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comment1.xml" ContentType="application/vnd.openxmlformats-officedocument.presentationml.comments+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8" r:id="rId1"/>
  </p:sldMasterIdLst>
  <p:notesMasterIdLst>
    <p:notesMasterId r:id="rId6"/>
  </p:notesMasterIdLst>
  <p:sldIdLst>
    <p:sldId id="256" r:id="rId2"/>
    <p:sldId id="269" r:id="rId3"/>
    <p:sldId id="270" r:id="rId4"/>
    <p:sldId id="274" r:id="rId5"/>
  </p:sldIdLst>
  <p:sldSz cx="12192000" cy="6858000"/>
  <p:notesSz cx="6858000" cy="9144000"/>
  <p:embeddedFontLst>
    <p:embeddedFont>
      <p:font typeface="Montserrat" pitchFamily="2" charset="77"/>
      <p:regular r:id="rId7"/>
      <p:bold r:id="rId8"/>
      <p:italic r:id="rId9"/>
      <p:boldItalic r:id="rId10"/>
    </p:embeddedFont>
    <p:embeddedFont>
      <p:font typeface="Roboto" panose="02000000000000000000" pitchFamily="2" charset="0"/>
      <p:regular r:id="rId11"/>
      <p:bold r:id="rId12"/>
      <p:italic r:id="rId13"/>
      <p:boldItalic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162">
          <p15:clr>
            <a:srgbClr val="A4A3A4"/>
          </p15:clr>
        </p15:guide>
        <p15:guide id="2" pos="960">
          <p15:clr>
            <a:srgbClr val="A4A3A4"/>
          </p15:clr>
        </p15:guide>
        <p15:guide id="3" pos="4815">
          <p15:clr>
            <a:srgbClr val="A4A3A4"/>
          </p15:clr>
        </p15:guide>
        <p15:guide id="4" orient="horz" pos="3203">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omas Lovato" initials="" lastIdx="5"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9"/>
  </p:normalViewPr>
  <p:slideViewPr>
    <p:cSldViewPr snapToGrid="0">
      <p:cViewPr varScale="1">
        <p:scale>
          <a:sx n="105" d="100"/>
          <a:sy n="105" d="100"/>
        </p:scale>
        <p:origin x="744" y="192"/>
      </p:cViewPr>
      <p:guideLst>
        <p:guide orient="horz" pos="1162"/>
        <p:guide pos="960"/>
        <p:guide pos="4815"/>
        <p:guide orient="horz" pos="3203"/>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2.fntdata"/><Relationship Id="rId13" Type="http://schemas.openxmlformats.org/officeDocument/2006/relationships/font" Target="fonts/font7.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font" Target="fonts/font1.fntdata"/><Relationship Id="rId12" Type="http://schemas.openxmlformats.org/officeDocument/2006/relationships/font" Target="fonts/font6.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font" Target="fonts/font4.fntdata"/><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font" Target="fonts/font3.fntdata"/><Relationship Id="rId14" Type="http://schemas.openxmlformats.org/officeDocument/2006/relationships/font" Target="fonts/font8.fntdata"/></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9-14T17:51:52.761" idx="4">
    <p:pos x="6000" y="0"/>
    <p:text>slides @giovanni.conti@cmcc.it
_Assigned to you_</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8" name="Google Shape;7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28600" algn="l" rtl="0">
              <a:lnSpc>
                <a:spcPct val="100000"/>
              </a:lnSpc>
              <a:spcBef>
                <a:spcPts val="0"/>
              </a:spcBef>
              <a:spcAft>
                <a:spcPts val="0"/>
              </a:spcAft>
              <a:buClr>
                <a:srgbClr val="000000"/>
              </a:buClr>
              <a:buSzPts val="1100"/>
              <a:buFont typeface="Arial"/>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fb51410e66_1_2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rtl="0">
              <a:buNone/>
            </a:pPr>
            <a:r>
              <a:rPr lang="en-GB" sz="1200"/>
              <a:t>Starting point is our internal selection of AR7 fast-track opportunities: 30 opportunities marked High or Medium by four Divisions, which expand to 117 variable-group references. We take every variable of every listed group - no per-variable filtering - and expand them against the official Data Request v1.2.2.4 with the data_request_api. Two release versions are involved: the selection was written against DR v1.2.2.2, we expand on v1.2.2.4, and two groups were renamed in between - omip_geometry_physics is now omip_scalars_high_priority, hydro_modelling_PET_daily is now WaterResourcesPET_daily - so they are re-pointed by name. Coverage is then checked group by group: of 118 parsed tokens, 115 match the DR directly, 2 are the renamed ones, 1 is a free-text fragment from the spreadsheet (the word 'not' in the Ocean Extremes cell) and is discarded, and none is left unresolved. Had one been unresolved the script exits non-zero, so the pipeline cannot silently produce a shorter list. That gives 853 requests, i.e. 660 distinct CMOR variables across frequencies. Against the CMCC-ESM3 output we then have 436 already producible, 67 derivable from fields we already store, and 350 true gaps - concentrated in aerosol and atmospheric chemistry, land carbon and ocean biogeochemistry.</a:t>
            </a:r>
          </a:p>
        </p:txBody>
      </p:sp>
      <p:sp>
        <p:nvSpPr>
          <p:cNvPr id="242" name="Google Shape;242;g3fb51410e66_1_2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3fb51410e66_1_2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rtl="0">
              <a:buNone/>
            </a:pPr>
            <a:r>
              <a:rPr lang="en-GB" sz="1200"/>
              <a:t>Volumes are per simulated model-year on the CMCC-ESM3 grid, uncompressed. We produce about 213 GB per model-year today, roughly twice a CMIP6 model-year; the full request would be 437 GB, about 4.4 times CMIP6. Derivable variables add nothing because they are slices of stored fields. The cost is extremely concentrated: 174 of the 224 GB gap is ocean 3-hourly, and two fields - ficeberg and hfrunoffds - are 76 % of it. So the decision to take is about ocean sub-daily 3-D output, not about 350 variables. The estimate is calibrated on a real B1850 run and validated against its files. Remaining gaps are tracked as open rows in the lookup tables that map CMOR names to raw model fields.</a:t>
            </a:r>
          </a:p>
        </p:txBody>
      </p:sp>
      <p:sp>
        <p:nvSpPr>
          <p:cNvPr id="252" name="Google Shape;252;g3fb51410e66_1_2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92" name="Google Shape;292;p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3_One Section Slide">
  <p:cSld name="3_One Section Slide">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599016" y="575019"/>
            <a:ext cx="4876800" cy="1325563"/>
          </a:xfrm>
          <a:prstGeom prst="rect">
            <a:avLst/>
          </a:prstGeom>
          <a:noFill/>
          <a:ln>
            <a:noFill/>
          </a:ln>
        </p:spPr>
        <p:txBody>
          <a:bodyPr spcFirstLastPara="1" wrap="square" lIns="91425" tIns="45700" rIns="91425" bIns="45700" anchor="t" anchorCtr="0">
            <a:noAutofit/>
          </a:bodyPr>
          <a:lstStyle>
            <a:lvl1pPr lvl="0" algn="l">
              <a:lnSpc>
                <a:spcPct val="90000"/>
              </a:lnSpc>
              <a:spcBef>
                <a:spcPts val="0"/>
              </a:spcBef>
              <a:spcAft>
                <a:spcPts val="0"/>
              </a:spcAft>
              <a:buSzPts val="4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it-IT"/>
              <a:t>‹N›</a:t>
            </a:fld>
            <a:endParaRPr/>
          </a:p>
        </p:txBody>
      </p:sp>
      <p:sp>
        <p:nvSpPr>
          <p:cNvPr id="15" name="Google Shape;15;p2"/>
          <p:cNvSpPr>
            <a:spLocks noGrp="1"/>
          </p:cNvSpPr>
          <p:nvPr>
            <p:ph type="pic" idx="2"/>
          </p:nvPr>
        </p:nvSpPr>
        <p:spPr>
          <a:xfrm>
            <a:off x="5783793" y="0"/>
            <a:ext cx="5798607" cy="6858000"/>
          </a:xfrm>
          <a:prstGeom prst="rect">
            <a:avLst/>
          </a:prstGeom>
          <a:noFill/>
          <a:ln>
            <a:noFill/>
          </a:ln>
        </p:spPr>
        <p:txBody>
          <a:bodyPr/>
          <a:lstStyle/>
          <a:p>
            <a:endParaRPr lang="it-IT"/>
          </a:p>
        </p:txBody>
      </p:sp>
      <p:sp>
        <p:nvSpPr>
          <p:cNvPr id="16" name="Google Shape;16;p2"/>
          <p:cNvSpPr txBox="1">
            <a:spLocks noGrp="1"/>
          </p:cNvSpPr>
          <p:nvPr>
            <p:ph type="body" idx="1"/>
          </p:nvPr>
        </p:nvSpPr>
        <p:spPr>
          <a:xfrm>
            <a:off x="594733" y="3072977"/>
            <a:ext cx="4631139" cy="3196800"/>
          </a:xfrm>
          <a:prstGeom prst="rect">
            <a:avLst/>
          </a:prstGeom>
          <a:noFill/>
          <a:ln>
            <a:noFill/>
          </a:ln>
        </p:spPr>
        <p:txBody>
          <a:bodyPr spcFirstLastPara="1" wrap="square" lIns="91425" tIns="45700" rIns="91425" bIns="45700" anchor="t" anchorCtr="0">
            <a:noAutofit/>
          </a:bodyPr>
          <a:lstStyle>
            <a:lvl1pPr marL="457200" lvl="0" indent="-406400" algn="l">
              <a:lnSpc>
                <a:spcPct val="90000"/>
              </a:lnSpc>
              <a:spcBef>
                <a:spcPts val="400"/>
              </a:spcBef>
              <a:spcAft>
                <a:spcPts val="0"/>
              </a:spcAft>
              <a:buSzPts val="2800"/>
              <a:buChar char="•"/>
              <a:defRPr/>
            </a:lvl1pPr>
            <a:lvl2pPr marL="914400" lvl="1" indent="-381000" algn="l">
              <a:lnSpc>
                <a:spcPct val="90000"/>
              </a:lnSpc>
              <a:spcBef>
                <a:spcPts val="400"/>
              </a:spcBef>
              <a:spcAft>
                <a:spcPts val="0"/>
              </a:spcAft>
              <a:buSzPts val="2400"/>
              <a:buChar char="•"/>
              <a:defRPr/>
            </a:lvl2pPr>
            <a:lvl3pPr marL="1371600" lvl="2" indent="-355600" algn="l">
              <a:lnSpc>
                <a:spcPct val="90000"/>
              </a:lnSpc>
              <a:spcBef>
                <a:spcPts val="400"/>
              </a:spcBef>
              <a:spcAft>
                <a:spcPts val="0"/>
              </a:spcAft>
              <a:buSzPts val="20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
        <p:nvSpPr>
          <p:cNvPr id="17" name="Google Shape;17;p2"/>
          <p:cNvSpPr txBox="1">
            <a:spLocks noGrp="1"/>
          </p:cNvSpPr>
          <p:nvPr>
            <p:ph type="body" idx="3"/>
          </p:nvPr>
        </p:nvSpPr>
        <p:spPr>
          <a:xfrm>
            <a:off x="594733" y="2656167"/>
            <a:ext cx="4634868" cy="369600"/>
          </a:xfrm>
          <a:prstGeom prst="rect">
            <a:avLst/>
          </a:prstGeom>
          <a:noFill/>
          <a:ln>
            <a:noFill/>
          </a:ln>
        </p:spPr>
        <p:txBody>
          <a:bodyPr spcFirstLastPara="1" wrap="square" lIns="91425" tIns="45700" rIns="91425" bIns="45700" anchor="b" anchorCtr="0">
            <a:noAutofit/>
          </a:bodyPr>
          <a:lstStyle>
            <a:lvl1pPr marL="457200" lvl="0" indent="-406400" algn="l">
              <a:lnSpc>
                <a:spcPct val="90000"/>
              </a:lnSpc>
              <a:spcBef>
                <a:spcPts val="1000"/>
              </a:spcBef>
              <a:spcAft>
                <a:spcPts val="0"/>
              </a:spcAft>
              <a:buSzPts val="2800"/>
              <a:buChar char="•"/>
              <a:defRPr sz="1250" b="1"/>
            </a:lvl1pPr>
            <a:lvl2pPr marL="914400" lvl="1" indent="-381000" algn="l">
              <a:lnSpc>
                <a:spcPct val="90000"/>
              </a:lnSpc>
              <a:spcBef>
                <a:spcPts val="500"/>
              </a:spcBef>
              <a:spcAft>
                <a:spcPts val="0"/>
              </a:spcAft>
              <a:buSzPts val="2400"/>
              <a:buChar char="•"/>
              <a:defRPr/>
            </a:lvl2pPr>
            <a:lvl3pPr marL="1371600" lvl="2" indent="-355600" algn="l">
              <a:lnSpc>
                <a:spcPct val="90000"/>
              </a:lnSpc>
              <a:spcBef>
                <a:spcPts val="500"/>
              </a:spcBef>
              <a:spcAft>
                <a:spcPts val="0"/>
              </a:spcAft>
              <a:buSzPts val="2000"/>
              <a:buChar char="•"/>
              <a:defRPr/>
            </a:lvl3pPr>
            <a:lvl4pPr marL="1828800" lvl="3" indent="-342900" algn="l">
              <a:lnSpc>
                <a:spcPct val="90000"/>
              </a:lnSpc>
              <a:spcBef>
                <a:spcPts val="500"/>
              </a:spcBef>
              <a:spcAft>
                <a:spcPts val="0"/>
              </a:spcAft>
              <a:buSzPts val="1800"/>
              <a:buChar char="•"/>
              <a:defRPr/>
            </a:lvl4pPr>
            <a:lvl5pPr marL="2286000" lvl="4" indent="-342900" algn="l">
              <a:lnSpc>
                <a:spcPct val="90000"/>
              </a:lnSpc>
              <a:spcBef>
                <a:spcPts val="5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iapositiva titolo">
  <p:cSld name="Diapositiva titolo">
    <p:spTree>
      <p:nvGrpSpPr>
        <p:cNvPr id="1" name="Shape 18"/>
        <p:cNvGrpSpPr/>
        <p:nvPr/>
      </p:nvGrpSpPr>
      <p:grpSpPr>
        <a:xfrm>
          <a:off x="0" y="0"/>
          <a:ext cx="0" cy="0"/>
          <a:chOff x="0" y="0"/>
          <a:chExt cx="0" cy="0"/>
        </a:xfrm>
      </p:grpSpPr>
      <p:sp>
        <p:nvSpPr>
          <p:cNvPr id="19" name="Google Shape;19;p3"/>
          <p:cNvSpPr txBox="1">
            <a:spLocks noGrp="1"/>
          </p:cNvSpPr>
          <p:nvPr>
            <p:ph type="ctrTitle"/>
          </p:nvPr>
        </p:nvSpPr>
        <p:spPr>
          <a:xfrm>
            <a:off x="94210" y="174567"/>
            <a:ext cx="11809616" cy="536936"/>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SzPts val="4400"/>
              <a:buNone/>
              <a:defRPr sz="3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11409045" y="6333134"/>
            <a:ext cx="731700" cy="525000"/>
          </a:xfrm>
          <a:prstGeom prst="rect">
            <a:avLst/>
          </a:prstGeom>
        </p:spPr>
        <p:txBody>
          <a:bodyPr spcFirstLastPara="1" wrap="square" lIns="91425" tIns="45700" rIns="91425" bIns="45700" anchor="t" anchorCtr="0">
            <a:noAutofit/>
          </a:bodyPr>
          <a:lstStyle>
            <a:lvl1pPr lvl="0">
              <a:buNone/>
              <a:defRPr sz="1300">
                <a:solidFill>
                  <a:schemeClr val="dk1"/>
                </a:solidFill>
              </a:defRPr>
            </a:lvl1pPr>
            <a:lvl2pPr lvl="1">
              <a:buNone/>
              <a:defRPr sz="1300">
                <a:solidFill>
                  <a:schemeClr val="dk1"/>
                </a:solidFill>
              </a:defRPr>
            </a:lvl2pPr>
            <a:lvl3pPr lvl="2">
              <a:buNone/>
              <a:defRPr sz="1300">
                <a:solidFill>
                  <a:schemeClr val="dk1"/>
                </a:solidFill>
              </a:defRPr>
            </a:lvl3pPr>
            <a:lvl4pPr lvl="3">
              <a:buNone/>
              <a:defRPr sz="1300">
                <a:solidFill>
                  <a:schemeClr val="dk1"/>
                </a:solidFill>
              </a:defRPr>
            </a:lvl4pPr>
            <a:lvl5pPr lvl="4">
              <a:buNone/>
              <a:defRPr sz="1300">
                <a:solidFill>
                  <a:schemeClr val="dk1"/>
                </a:solidFill>
              </a:defRPr>
            </a:lvl5pPr>
            <a:lvl6pPr lvl="5">
              <a:buNone/>
              <a:defRPr sz="1300">
                <a:solidFill>
                  <a:schemeClr val="dk1"/>
                </a:solidFill>
              </a:defRPr>
            </a:lvl6pPr>
            <a:lvl7pPr lvl="6">
              <a:buNone/>
              <a:defRPr sz="1300">
                <a:solidFill>
                  <a:schemeClr val="dk1"/>
                </a:solidFill>
              </a:defRPr>
            </a:lvl7pPr>
            <a:lvl8pPr lvl="7">
              <a:buNone/>
              <a:defRPr sz="1300">
                <a:solidFill>
                  <a:schemeClr val="dk1"/>
                </a:solidFill>
              </a:defRPr>
            </a:lvl8pPr>
            <a:lvl9pPr lvl="8">
              <a:buNone/>
              <a:defRPr sz="1300">
                <a:solidFill>
                  <a:schemeClr val="dk1"/>
                </a:solidFill>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One Section Slide">
  <p:cSld name="2_One Section Slide">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599016" y="575019"/>
            <a:ext cx="4876800" cy="1325563"/>
          </a:xfrm>
          <a:prstGeom prst="rect">
            <a:avLst/>
          </a:prstGeom>
          <a:noFill/>
          <a:ln>
            <a:noFill/>
          </a:ln>
        </p:spPr>
        <p:txBody>
          <a:bodyPr spcFirstLastPara="1" wrap="square" lIns="91425" tIns="45700" rIns="91425" bIns="45700" anchor="t" anchorCtr="0">
            <a:noAutofit/>
          </a:bodyPr>
          <a:lstStyle>
            <a:lvl1pPr lvl="0" algn="l">
              <a:lnSpc>
                <a:spcPct val="90000"/>
              </a:lnSpc>
              <a:spcBef>
                <a:spcPts val="0"/>
              </a:spcBef>
              <a:spcAft>
                <a:spcPts val="0"/>
              </a:spcAft>
              <a:buSzPts val="4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it-IT"/>
              <a:t>‹N›</a:t>
            </a:fld>
            <a:endParaRPr/>
          </a:p>
        </p:txBody>
      </p:sp>
      <p:sp>
        <p:nvSpPr>
          <p:cNvPr id="25" name="Google Shape;25;p4"/>
          <p:cNvSpPr>
            <a:spLocks noGrp="1"/>
          </p:cNvSpPr>
          <p:nvPr>
            <p:ph type="pic" idx="2"/>
          </p:nvPr>
        </p:nvSpPr>
        <p:spPr>
          <a:xfrm>
            <a:off x="5783793" y="0"/>
            <a:ext cx="5798607" cy="6858000"/>
          </a:xfrm>
          <a:prstGeom prst="rect">
            <a:avLst/>
          </a:prstGeom>
          <a:noFill/>
          <a:ln>
            <a:noFill/>
          </a:ln>
        </p:spPr>
        <p:txBody>
          <a:bodyPr/>
          <a:lstStyle/>
          <a:p>
            <a:endParaRPr lang="it-IT"/>
          </a:p>
        </p:txBody>
      </p:sp>
      <p:sp>
        <p:nvSpPr>
          <p:cNvPr id="26" name="Google Shape;26;p4"/>
          <p:cNvSpPr txBox="1">
            <a:spLocks noGrp="1"/>
          </p:cNvSpPr>
          <p:nvPr>
            <p:ph type="body" idx="1"/>
          </p:nvPr>
        </p:nvSpPr>
        <p:spPr>
          <a:xfrm>
            <a:off x="594733" y="3072977"/>
            <a:ext cx="4631139" cy="3196800"/>
          </a:xfrm>
          <a:prstGeom prst="rect">
            <a:avLst/>
          </a:prstGeom>
          <a:noFill/>
          <a:ln>
            <a:noFill/>
          </a:ln>
        </p:spPr>
        <p:txBody>
          <a:bodyPr spcFirstLastPara="1" wrap="square" lIns="91425" tIns="45700" rIns="91425" bIns="45700" anchor="t" anchorCtr="0">
            <a:noAutofit/>
          </a:bodyPr>
          <a:lstStyle>
            <a:lvl1pPr marL="457200" lvl="0" indent="-406400" algn="l">
              <a:lnSpc>
                <a:spcPct val="90000"/>
              </a:lnSpc>
              <a:spcBef>
                <a:spcPts val="400"/>
              </a:spcBef>
              <a:spcAft>
                <a:spcPts val="0"/>
              </a:spcAft>
              <a:buSzPts val="2800"/>
              <a:buChar char="•"/>
              <a:defRPr/>
            </a:lvl1pPr>
            <a:lvl2pPr marL="914400" lvl="1" indent="-381000" algn="l">
              <a:lnSpc>
                <a:spcPct val="90000"/>
              </a:lnSpc>
              <a:spcBef>
                <a:spcPts val="400"/>
              </a:spcBef>
              <a:spcAft>
                <a:spcPts val="0"/>
              </a:spcAft>
              <a:buSzPts val="2400"/>
              <a:buChar char="•"/>
              <a:defRPr/>
            </a:lvl2pPr>
            <a:lvl3pPr marL="1371600" lvl="2" indent="-355600" algn="l">
              <a:lnSpc>
                <a:spcPct val="90000"/>
              </a:lnSpc>
              <a:spcBef>
                <a:spcPts val="400"/>
              </a:spcBef>
              <a:spcAft>
                <a:spcPts val="0"/>
              </a:spcAft>
              <a:buSzPts val="20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
        <p:nvSpPr>
          <p:cNvPr id="27" name="Google Shape;27;p4"/>
          <p:cNvSpPr txBox="1">
            <a:spLocks noGrp="1"/>
          </p:cNvSpPr>
          <p:nvPr>
            <p:ph type="body" idx="3"/>
          </p:nvPr>
        </p:nvSpPr>
        <p:spPr>
          <a:xfrm>
            <a:off x="594733" y="2656167"/>
            <a:ext cx="4634868" cy="369600"/>
          </a:xfrm>
          <a:prstGeom prst="rect">
            <a:avLst/>
          </a:prstGeom>
          <a:noFill/>
          <a:ln>
            <a:noFill/>
          </a:ln>
        </p:spPr>
        <p:txBody>
          <a:bodyPr spcFirstLastPara="1" wrap="square" lIns="91425" tIns="45700" rIns="91425" bIns="45700" anchor="b" anchorCtr="0">
            <a:noAutofit/>
          </a:bodyPr>
          <a:lstStyle>
            <a:lvl1pPr marL="457200" lvl="0" indent="-406400" algn="l">
              <a:lnSpc>
                <a:spcPct val="90000"/>
              </a:lnSpc>
              <a:spcBef>
                <a:spcPts val="1000"/>
              </a:spcBef>
              <a:spcAft>
                <a:spcPts val="0"/>
              </a:spcAft>
              <a:buSzPts val="2800"/>
              <a:buChar char="•"/>
              <a:defRPr sz="1250" b="1"/>
            </a:lvl1pPr>
            <a:lvl2pPr marL="914400" lvl="1" indent="-381000" algn="l">
              <a:lnSpc>
                <a:spcPct val="90000"/>
              </a:lnSpc>
              <a:spcBef>
                <a:spcPts val="500"/>
              </a:spcBef>
              <a:spcAft>
                <a:spcPts val="0"/>
              </a:spcAft>
              <a:buSzPts val="2400"/>
              <a:buChar char="•"/>
              <a:defRPr/>
            </a:lvl2pPr>
            <a:lvl3pPr marL="1371600" lvl="2" indent="-355600" algn="l">
              <a:lnSpc>
                <a:spcPct val="90000"/>
              </a:lnSpc>
              <a:spcBef>
                <a:spcPts val="500"/>
              </a:spcBef>
              <a:spcAft>
                <a:spcPts val="0"/>
              </a:spcAft>
              <a:buSzPts val="2000"/>
              <a:buChar char="•"/>
              <a:defRPr/>
            </a:lvl3pPr>
            <a:lvl4pPr marL="1828800" lvl="3" indent="-342900" algn="l">
              <a:lnSpc>
                <a:spcPct val="90000"/>
              </a:lnSpc>
              <a:spcBef>
                <a:spcPts val="500"/>
              </a:spcBef>
              <a:spcAft>
                <a:spcPts val="0"/>
              </a:spcAft>
              <a:buSzPts val="1800"/>
              <a:buChar char="•"/>
              <a:defRPr/>
            </a:lvl4pPr>
            <a:lvl5pPr marL="2286000" lvl="4" indent="-342900" algn="l">
              <a:lnSpc>
                <a:spcPct val="90000"/>
              </a:lnSpc>
              <a:spcBef>
                <a:spcPts val="5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Intestazione sezione" type="secHead">
  <p:cSld name="SECTION_HEADER">
    <p:spTree>
      <p:nvGrpSpPr>
        <p:cNvPr id="1" name="Shape 28"/>
        <p:cNvGrpSpPr/>
        <p:nvPr/>
      </p:nvGrpSpPr>
      <p:grpSpPr>
        <a:xfrm>
          <a:off x="0" y="0"/>
          <a:ext cx="0" cy="0"/>
          <a:chOff x="0" y="0"/>
          <a:chExt cx="0" cy="0"/>
        </a:xfrm>
      </p:grpSpPr>
      <p:sp>
        <p:nvSpPr>
          <p:cNvPr id="29" name="Google Shape;29;p5"/>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5"/>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1" name="Google Shape;31;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ue contenuti" type="twoObj">
  <p:cSld name="TWO_OBJECTS">
    <p:spTree>
      <p:nvGrpSpPr>
        <p:cNvPr id="1" name="Shape 34"/>
        <p:cNvGrpSpPr/>
        <p:nvPr/>
      </p:nvGrpSpPr>
      <p:grpSpPr>
        <a:xfrm>
          <a:off x="0" y="0"/>
          <a:ext cx="0" cy="0"/>
          <a:chOff x="0" y="0"/>
          <a:chExt cx="0" cy="0"/>
        </a:xfrm>
      </p:grpSpPr>
      <p:sp>
        <p:nvSpPr>
          <p:cNvPr id="35" name="Google Shape;35;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8" name="Google Shape;38;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fronto" type="twoTxTwoObj">
  <p:cSld name="TWO_OBJECTS_WITH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4" name="Google Shape;44;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6" name="Google Shape;46;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uto con didascalia" type="objTx">
  <p:cSld name="OBJECT_WITH_CAPTION_TEXT">
    <p:spTree>
      <p:nvGrpSpPr>
        <p:cNvPr id="1" name="Shape 50"/>
        <p:cNvGrpSpPr/>
        <p:nvPr/>
      </p:nvGrpSpPr>
      <p:grpSpPr>
        <a:xfrm>
          <a:off x="0" y="0"/>
          <a:ext cx="0" cy="0"/>
          <a:chOff x="0" y="0"/>
          <a:chExt cx="0" cy="0"/>
        </a:xfrm>
      </p:grpSpPr>
      <p:sp>
        <p:nvSpPr>
          <p:cNvPr id="51" name="Google Shape;51;p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3" name="Google Shape;53;p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4" name="Google Shape;54;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Immagine con didascalia" type="picTx">
  <p:cSld name="PICTURE_WITH_CAPTION_TEXT">
    <p:spTree>
      <p:nvGrpSpPr>
        <p:cNvPr id="1" name="Shape 57"/>
        <p:cNvGrpSpPr/>
        <p:nvPr/>
      </p:nvGrpSpPr>
      <p:grpSpPr>
        <a:xfrm>
          <a:off x="0" y="0"/>
          <a:ext cx="0" cy="0"/>
          <a:chOff x="0" y="0"/>
          <a:chExt cx="0" cy="0"/>
        </a:xfrm>
      </p:grpSpPr>
      <p:sp>
        <p:nvSpPr>
          <p:cNvPr id="58" name="Google Shape;58;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9"/>
          <p:cNvSpPr>
            <a:spLocks noGrp="1"/>
          </p:cNvSpPr>
          <p:nvPr>
            <p:ph type="pic" idx="2"/>
          </p:nvPr>
        </p:nvSpPr>
        <p:spPr>
          <a:xfrm>
            <a:off x="5183188" y="987425"/>
            <a:ext cx="6172200" cy="4873625"/>
          </a:xfrm>
          <a:prstGeom prst="rect">
            <a:avLst/>
          </a:prstGeom>
          <a:noFill/>
          <a:ln>
            <a:noFill/>
          </a:ln>
        </p:spPr>
      </p:sp>
      <p:sp>
        <p:nvSpPr>
          <p:cNvPr id="60" name="Google Shape;60;p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1" name="Google Shape;61;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olo e testo verticale" type="vertTx">
  <p:cSld name="VERTICAL_TEXT">
    <p:spTree>
      <p:nvGrpSpPr>
        <p:cNvPr id="1" name="Shape 64"/>
        <p:cNvGrpSpPr/>
        <p:nvPr/>
      </p:nvGrpSpPr>
      <p:grpSpPr>
        <a:xfrm>
          <a:off x="0" y="0"/>
          <a:ext cx="0" cy="0"/>
          <a:chOff x="0" y="0"/>
          <a:chExt cx="0" cy="0"/>
        </a:xfrm>
      </p:grpSpPr>
      <p:sp>
        <p:nvSpPr>
          <p:cNvPr id="65" name="Google Shape;65;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Titolo e testo verticale" type="vertTitleAndTx">
  <p:cSld name="VERTICAL_TITLE_AND_VERTICAL_TEXT">
    <p:spTree>
      <p:nvGrpSpPr>
        <p:cNvPr id="1" name="Shape 70"/>
        <p:cNvGrpSpPr/>
        <p:nvPr/>
      </p:nvGrpSpPr>
      <p:grpSpPr>
        <a:xfrm>
          <a:off x="0" y="0"/>
          <a:ext cx="0" cy="0"/>
          <a:chOff x="0" y="0"/>
          <a:chExt cx="0" cy="0"/>
        </a:xfrm>
      </p:grpSpPr>
      <p:sp>
        <p:nvSpPr>
          <p:cNvPr id="71" name="Google Shape;71;p1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3" name="Google Shape;73;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5" name="Google Shape;75;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it-IT"/>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comments" Target="../comments/commen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2"/>
          <p:cNvSpPr txBox="1">
            <a:spLocks noGrp="1"/>
          </p:cNvSpPr>
          <p:nvPr>
            <p:ph type="body" idx="3"/>
          </p:nvPr>
        </p:nvSpPr>
        <p:spPr>
          <a:xfrm>
            <a:off x="594733" y="2656167"/>
            <a:ext cx="4634868" cy="369600"/>
          </a:xfrm>
          <a:prstGeom prst="rect">
            <a:avLst/>
          </a:prstGeom>
          <a:noFill/>
          <a:ln>
            <a:noFill/>
          </a:ln>
        </p:spPr>
        <p:txBody>
          <a:bodyPr spcFirstLastPara="1" wrap="square" lIns="91425" tIns="45700" rIns="91425" bIns="45700" anchor="b" anchorCtr="0">
            <a:noAutofit/>
          </a:bodyPr>
          <a:lstStyle/>
          <a:p>
            <a:pPr marL="457200" lvl="0" indent="-228600" algn="l" rtl="0">
              <a:lnSpc>
                <a:spcPct val="90000"/>
              </a:lnSpc>
              <a:spcBef>
                <a:spcPts val="1000"/>
              </a:spcBef>
              <a:spcAft>
                <a:spcPts val="0"/>
              </a:spcAft>
              <a:buSzPts val="2800"/>
              <a:buNone/>
            </a:pPr>
            <a:endParaRPr/>
          </a:p>
        </p:txBody>
      </p:sp>
      <p:sp>
        <p:nvSpPr>
          <p:cNvPr id="81" name="Google Shape;81;p12"/>
          <p:cNvSpPr txBox="1">
            <a:spLocks noGrp="1"/>
          </p:cNvSpPr>
          <p:nvPr>
            <p:ph type="body" idx="1"/>
          </p:nvPr>
        </p:nvSpPr>
        <p:spPr>
          <a:xfrm>
            <a:off x="594733" y="3072977"/>
            <a:ext cx="4631139" cy="3196800"/>
          </a:xfrm>
          <a:prstGeom prst="rect">
            <a:avLst/>
          </a:prstGeom>
          <a:noFill/>
          <a:ln>
            <a:noFill/>
          </a:ln>
        </p:spPr>
        <p:txBody>
          <a:bodyPr spcFirstLastPara="1" wrap="square" lIns="91425" tIns="45700" rIns="91425" bIns="45700" anchor="t" anchorCtr="0">
            <a:noAutofit/>
          </a:bodyPr>
          <a:lstStyle/>
          <a:p>
            <a:pPr marL="457200" lvl="0" indent="-228600" algn="l" rtl="0">
              <a:lnSpc>
                <a:spcPct val="90000"/>
              </a:lnSpc>
              <a:spcBef>
                <a:spcPts val="400"/>
              </a:spcBef>
              <a:spcAft>
                <a:spcPts val="0"/>
              </a:spcAft>
              <a:buSzPts val="2800"/>
              <a:buNone/>
            </a:pPr>
            <a:endParaRPr/>
          </a:p>
        </p:txBody>
      </p:sp>
      <p:sp>
        <p:nvSpPr>
          <p:cNvPr id="82" name="Google Shape;82;p12"/>
          <p:cNvSpPr txBox="1">
            <a:spLocks noGrp="1"/>
          </p:cNvSpPr>
          <p:nvPr>
            <p:ph type="title"/>
          </p:nvPr>
        </p:nvSpPr>
        <p:spPr>
          <a:xfrm>
            <a:off x="599016" y="575019"/>
            <a:ext cx="4876800" cy="1325563"/>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SzPts val="4400"/>
              <a:buNone/>
            </a:pPr>
            <a:endParaRPr/>
          </a:p>
        </p:txBody>
      </p:sp>
      <p:pic>
        <p:nvPicPr>
          <p:cNvPr id="83" name="Google Shape;83;p12" descr="Immagine che contiene Terra, pianeta, Spazio esterno, Oggetto astronomico  Descrizione generata automaticamente"/>
          <p:cNvPicPr preferRelativeResize="0"/>
          <p:nvPr/>
        </p:nvPicPr>
        <p:blipFill rotWithShape="1">
          <a:blip r:embed="rId3">
            <a:alphaModFix/>
          </a:blip>
          <a:srcRect/>
          <a:stretch/>
        </p:blipFill>
        <p:spPr>
          <a:xfrm>
            <a:off x="-1" y="0"/>
            <a:ext cx="12213931" cy="6858000"/>
          </a:xfrm>
          <a:prstGeom prst="rect">
            <a:avLst/>
          </a:prstGeom>
          <a:noFill/>
          <a:ln>
            <a:noFill/>
          </a:ln>
        </p:spPr>
      </p:pic>
      <p:pic>
        <p:nvPicPr>
          <p:cNvPr id="84" name="Google Shape;84;p12"/>
          <p:cNvPicPr preferRelativeResize="0"/>
          <p:nvPr/>
        </p:nvPicPr>
        <p:blipFill rotWithShape="1">
          <a:blip r:embed="rId4">
            <a:alphaModFix/>
          </a:blip>
          <a:srcRect l="23220" t="31843" r="21467" b="39024"/>
          <a:stretch/>
        </p:blipFill>
        <p:spPr>
          <a:xfrm>
            <a:off x="859924" y="759802"/>
            <a:ext cx="3633251" cy="1325551"/>
          </a:xfrm>
          <a:prstGeom prst="rect">
            <a:avLst/>
          </a:prstGeom>
          <a:noFill/>
          <a:ln>
            <a:noFill/>
          </a:ln>
        </p:spPr>
      </p:pic>
      <p:sp>
        <p:nvSpPr>
          <p:cNvPr id="85" name="Google Shape;85;p12"/>
          <p:cNvSpPr txBox="1"/>
          <p:nvPr/>
        </p:nvSpPr>
        <p:spPr>
          <a:xfrm>
            <a:off x="96000" y="2518500"/>
            <a:ext cx="9857700" cy="1477500"/>
          </a:xfrm>
          <a:prstGeom prst="rect">
            <a:avLst/>
          </a:prstGeom>
          <a:noFill/>
          <a:ln>
            <a:noFill/>
          </a:ln>
        </p:spPr>
        <p:txBody>
          <a:bodyPr spcFirstLastPara="1" wrap="square" lIns="91425" tIns="45700" rIns="91425" bIns="45700" anchor="t" anchorCtr="0">
            <a:spAutoFit/>
          </a:bodyPr>
          <a:lstStyle/>
          <a:p>
            <a:pPr marL="875664" marR="0" lvl="0" indent="0" algn="l" rtl="0">
              <a:lnSpc>
                <a:spcPct val="100000"/>
              </a:lnSpc>
              <a:spcBef>
                <a:spcPts val="0"/>
              </a:spcBef>
              <a:spcAft>
                <a:spcPts val="0"/>
              </a:spcAft>
              <a:buClr>
                <a:srgbClr val="000000"/>
              </a:buClr>
              <a:buSzPts val="4500"/>
              <a:buFont typeface="Arial"/>
              <a:buNone/>
            </a:pPr>
            <a:r>
              <a:rPr lang="it-IT" sz="4500" b="1">
                <a:solidFill>
                  <a:srgbClr val="FFFFFF"/>
                </a:solidFill>
                <a:latin typeface="Roboto"/>
                <a:ea typeface="Roboto"/>
                <a:cs typeface="Roboto"/>
                <a:sym typeface="Roboto"/>
              </a:rPr>
              <a:t>CMCC/NorESM collaboration CMCC-ESM3 development update</a:t>
            </a:r>
            <a:endParaRPr sz="4500" b="1" i="0" u="none" strike="noStrike" cap="none">
              <a:solidFill>
                <a:srgbClr val="FFFFFF"/>
              </a:solidFill>
              <a:latin typeface="Roboto"/>
              <a:ea typeface="Roboto"/>
              <a:cs typeface="Roboto"/>
              <a:sym typeface="Roboto"/>
            </a:endParaRPr>
          </a:p>
        </p:txBody>
      </p:sp>
      <p:sp>
        <p:nvSpPr>
          <p:cNvPr id="86" name="Google Shape;86;p12"/>
          <p:cNvSpPr txBox="1"/>
          <p:nvPr/>
        </p:nvSpPr>
        <p:spPr>
          <a:xfrm>
            <a:off x="125683" y="5928664"/>
            <a:ext cx="2611579" cy="400110"/>
          </a:xfrm>
          <a:prstGeom prst="rect">
            <a:avLst/>
          </a:prstGeom>
          <a:noFill/>
          <a:ln>
            <a:noFill/>
          </a:ln>
        </p:spPr>
        <p:txBody>
          <a:bodyPr spcFirstLastPara="1" wrap="square" lIns="91425" tIns="45700" rIns="91425" bIns="45700" anchor="t" anchorCtr="0">
            <a:spAutoFit/>
          </a:bodyPr>
          <a:lstStyle/>
          <a:p>
            <a:pPr marL="875664" marR="0" lvl="0" indent="0" algn="l" rtl="0">
              <a:lnSpc>
                <a:spcPct val="100000"/>
              </a:lnSpc>
              <a:spcBef>
                <a:spcPts val="0"/>
              </a:spcBef>
              <a:spcAft>
                <a:spcPts val="0"/>
              </a:spcAft>
              <a:buClr>
                <a:srgbClr val="000000"/>
              </a:buClr>
              <a:buSzPts val="2000"/>
              <a:buFont typeface="Arial"/>
              <a:buNone/>
            </a:pPr>
            <a:r>
              <a:rPr lang="it-IT" sz="2000" b="1" i="0" u="none" strike="noStrike" cap="none">
                <a:solidFill>
                  <a:srgbClr val="FFFFFF"/>
                </a:solidFill>
                <a:latin typeface="Roboto"/>
                <a:ea typeface="Roboto"/>
                <a:cs typeface="Roboto"/>
                <a:sym typeface="Roboto"/>
              </a:rPr>
              <a:t>www.cmcc.it</a:t>
            </a:r>
            <a:endParaRPr sz="2000" b="1" i="0" u="none" strike="noStrike" cap="none">
              <a:solidFill>
                <a:srgbClr val="000000"/>
              </a:solidFill>
              <a:latin typeface="Roboto"/>
              <a:ea typeface="Roboto"/>
              <a:cs typeface="Roboto"/>
              <a:sym typeface="Roboto"/>
            </a:endParaRPr>
          </a:p>
        </p:txBody>
      </p:sp>
      <p:pic>
        <p:nvPicPr>
          <p:cNvPr id="87" name="Google Shape;87;p12"/>
          <p:cNvPicPr preferRelativeResize="0"/>
          <p:nvPr/>
        </p:nvPicPr>
        <p:blipFill rotWithShape="1">
          <a:blip r:embed="rId5">
            <a:alphaModFix/>
          </a:blip>
          <a:srcRect/>
          <a:stretch/>
        </p:blipFill>
        <p:spPr>
          <a:xfrm>
            <a:off x="10500811" y="5908084"/>
            <a:ext cx="1047472" cy="501210"/>
          </a:xfrm>
          <a:prstGeom prst="rect">
            <a:avLst/>
          </a:prstGeom>
          <a:noFill/>
          <a:ln>
            <a:noFill/>
          </a:ln>
        </p:spPr>
      </p:pic>
      <p:sp>
        <p:nvSpPr>
          <p:cNvPr id="88" name="Google Shape;88;p12"/>
          <p:cNvSpPr txBox="1"/>
          <p:nvPr/>
        </p:nvSpPr>
        <p:spPr>
          <a:xfrm>
            <a:off x="599023" y="4210972"/>
            <a:ext cx="6581400" cy="4926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500"/>
              <a:buFont typeface="Arial"/>
              <a:buNone/>
            </a:pPr>
            <a:r>
              <a:rPr lang="it-IT" sz="2600">
                <a:solidFill>
                  <a:srgbClr val="FFFFFF"/>
                </a:solidFill>
                <a:latin typeface="Roboto"/>
                <a:ea typeface="Roboto"/>
                <a:cs typeface="Roboto"/>
                <a:sym typeface="Roboto"/>
              </a:rPr>
              <a:t>Silvio Gualdi on behalf of CMCC ESM Team</a:t>
            </a:r>
            <a:endParaRPr sz="2600" i="0" u="none" strike="noStrike" cap="none">
              <a:solidFill>
                <a:srgbClr val="FFFFFF"/>
              </a:solidFill>
              <a:latin typeface="Roboto"/>
              <a:ea typeface="Roboto"/>
              <a:cs typeface="Roboto"/>
              <a:sym typeface="Roboto"/>
            </a:endParaRPr>
          </a:p>
        </p:txBody>
      </p:sp>
      <p:sp>
        <p:nvSpPr>
          <p:cNvPr id="89" name="Google Shape;89;p12"/>
          <p:cNvSpPr txBox="1"/>
          <p:nvPr/>
        </p:nvSpPr>
        <p:spPr>
          <a:xfrm>
            <a:off x="8177749" y="5201800"/>
            <a:ext cx="3633300" cy="5232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4500"/>
              <a:buFont typeface="Arial"/>
              <a:buNone/>
            </a:pPr>
            <a:r>
              <a:rPr lang="it-IT" sz="2800" b="1">
                <a:solidFill>
                  <a:srgbClr val="FFFFFF"/>
                </a:solidFill>
                <a:latin typeface="Roboto"/>
                <a:ea typeface="Roboto"/>
                <a:cs typeface="Roboto"/>
                <a:sym typeface="Roboto"/>
              </a:rPr>
              <a:t>online 18-09-2026</a:t>
            </a:r>
            <a:endParaRPr sz="2800" b="1" i="0" u="none" strike="noStrike" cap="none">
              <a:solidFill>
                <a:srgbClr val="FFFFFF"/>
              </a:solidFill>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pic>
        <p:nvPicPr>
          <p:cNvPr id="244" name="Google Shape;244;p25"/>
          <p:cNvPicPr preferRelativeResize="0"/>
          <p:nvPr/>
        </p:nvPicPr>
        <p:blipFill rotWithShape="1">
          <a:blip r:embed="rId3">
            <a:alphaModFix/>
          </a:blip>
          <a:srcRect/>
          <a:stretch/>
        </p:blipFill>
        <p:spPr>
          <a:xfrm>
            <a:off x="-11274" y="0"/>
            <a:ext cx="12203273" cy="1025480"/>
          </a:xfrm>
          <a:prstGeom prst="rect">
            <a:avLst/>
          </a:prstGeom>
          <a:noFill/>
          <a:ln>
            <a:noFill/>
          </a:ln>
        </p:spPr>
      </p:pic>
      <p:sp>
        <p:nvSpPr>
          <p:cNvPr id="245" name="Google Shape;245;p25"/>
          <p:cNvSpPr txBox="1"/>
          <p:nvPr/>
        </p:nvSpPr>
        <p:spPr>
          <a:xfrm>
            <a:off x="672531" y="361025"/>
            <a:ext cx="8743800" cy="522000"/>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dk1"/>
              </a:buClr>
              <a:buSzPts val="4400"/>
              <a:buFont typeface="Calibri"/>
              <a:buNone/>
            </a:pPr>
            <a:r>
              <a:rPr lang="it-IT" sz="3200" b="1">
                <a:solidFill>
                  <a:schemeClr val="lt1"/>
                </a:solidFill>
                <a:latin typeface="Montserrat"/>
                <a:ea typeface="Montserrat"/>
                <a:cs typeface="Montserrat"/>
                <a:sym typeface="Montserrat"/>
              </a:rPr>
              <a:t>CMCC AR7-FT Data Request (1)</a:t>
            </a:r>
            <a:endParaRPr sz="3200" b="0" i="0" u="none" strike="noStrike" cap="none">
              <a:solidFill>
                <a:schemeClr val="lt1"/>
              </a:solidFill>
              <a:latin typeface="Arial"/>
              <a:ea typeface="Arial"/>
              <a:cs typeface="Arial"/>
              <a:sym typeface="Arial"/>
            </a:endParaRPr>
          </a:p>
        </p:txBody>
      </p:sp>
      <p:sp>
        <p:nvSpPr>
          <p:cNvPr id="246" name="Google Shape;246;p25"/>
          <p:cNvSpPr/>
          <p:nvPr/>
        </p:nvSpPr>
        <p:spPr>
          <a:xfrm>
            <a:off x="-151579" y="1019517"/>
            <a:ext cx="12483900" cy="45600"/>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B0F0"/>
              </a:solidFill>
              <a:latin typeface="Arial"/>
              <a:ea typeface="Arial"/>
              <a:cs typeface="Arial"/>
              <a:sym typeface="Arial"/>
            </a:endParaRPr>
          </a:p>
        </p:txBody>
      </p:sp>
      <p:sp>
        <p:nvSpPr>
          <p:cNvPr id="247" name="Google Shape;247;p25"/>
          <p:cNvSpPr/>
          <p:nvPr/>
        </p:nvSpPr>
        <p:spPr>
          <a:xfrm>
            <a:off x="-11274" y="6786545"/>
            <a:ext cx="12203400" cy="891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248" name="Google Shape;248;p25" descr="Immagine che contiene Carattere, Elementi grafici, logo, simbolo  Descrizione generata automaticamente"/>
          <p:cNvPicPr preferRelativeResize="0"/>
          <p:nvPr/>
        </p:nvPicPr>
        <p:blipFill rotWithShape="1">
          <a:blip r:embed="rId4">
            <a:alphaModFix/>
          </a:blip>
          <a:srcRect/>
          <a:stretch/>
        </p:blipFill>
        <p:spPr>
          <a:xfrm>
            <a:off x="9727799" y="207657"/>
            <a:ext cx="1978358" cy="675420"/>
          </a:xfrm>
          <a:prstGeom prst="rect">
            <a:avLst/>
          </a:prstGeom>
          <a:noFill/>
          <a:ln>
            <a:noFill/>
          </a:ln>
        </p:spPr>
      </p:pic>
      <p:sp>
        <p:nvSpPr>
          <p:cNvPr id="901" name="tb902"/>
          <p:cNvSpPr txBox="1"/>
          <p:nvPr/>
        </p:nvSpPr>
        <p:spPr>
          <a:xfrm>
            <a:off x="777240" y="1133856"/>
            <a:ext cx="10634472" cy="310896"/>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250" b="0" i="1">
                <a:solidFill>
                  <a:srgbClr val="595959"/>
                </a:solidFill>
                <a:latin typeface="Roboto"/>
                <a:ea typeface="Roboto"/>
                <a:cs typeface="Roboto"/>
                <a:sym typeface="Roboto"/>
              </a:rPr>
              <a:t>Internal CMCC selection expanded against the official CMIP7 Data Request (v1.2.2.4) and cross-checked against CMCC-ESM3 output</a:t>
            </a:r>
          </a:p>
        </p:txBody>
      </p:sp>
      <p:sp>
        <p:nvSpPr>
          <p:cNvPr id="903" name="rc904"/>
          <p:cNvSpPr/>
          <p:nvPr/>
        </p:nvSpPr>
        <p:spPr>
          <a:xfrm>
            <a:off x="777240" y="1517904"/>
            <a:ext cx="3392424" cy="1097280"/>
          </a:xfrm>
          <a:prstGeom prst="roundRect">
            <a:avLst>
              <a:gd name="adj" fmla="val 6666"/>
            </a:avLst>
          </a:prstGeom>
          <a:solidFill>
            <a:srgbClr val="F1F4F9"/>
          </a:solidFill>
          <a:ln>
            <a:noFill/>
          </a:ln>
        </p:spPr>
        <p:txBody>
          <a:bodyPr/>
          <a:lstStyle/>
          <a:p>
            <a:pPr algn="l" rtl="0">
              <a:buNone/>
            </a:pPr>
          </a:p>
        </p:txBody>
      </p:sp>
      <p:sp>
        <p:nvSpPr>
          <p:cNvPr id="905" name="tb906"/>
          <p:cNvSpPr txBox="1"/>
          <p:nvPr/>
        </p:nvSpPr>
        <p:spPr>
          <a:xfrm>
            <a:off x="832103" y="1572768"/>
            <a:ext cx="3282696" cy="1005840"/>
          </a:xfrm>
          <a:prstGeom prst="rect">
            <a:avLst/>
          </a:prstGeom>
          <a:noFill/>
          <a:ln>
            <a:noFill/>
          </a:ln>
        </p:spPr>
        <p:txBody>
          <a:bodyPr spcFirstLastPara="1" wrap="square" lIns="109728" tIns="109728" rIns="109728" bIns="109728" anchor="t" anchorCtr="0">
            <a:noAutofit/>
          </a:bodyPr>
          <a:lstStyle/>
          <a:p>
            <a:pPr marL="0" indent="0" algn="l" rtl="0">
              <a:lnSpc>
                <a:spcPct val="95000"/>
              </a:lnSpc>
              <a:spcBef>
                <a:spcPts val="0"/>
              </a:spcBef>
              <a:spcAft>
                <a:spcPts val="200"/>
              </a:spcAft>
              <a:buNone/>
            </a:pPr>
            <a:r>
              <a:rPr lang="en-GB" sz="3200" b="1" i="0">
                <a:solidFill>
                  <a:srgbClr val="1F3864"/>
                </a:solidFill>
                <a:latin typeface="Montserrat"/>
                <a:ea typeface="Montserrat"/>
                <a:cs typeface="Montserrat"/>
                <a:sym typeface="Montserrat"/>
              </a:rPr>
              <a:t>30</a:t>
            </a:r>
          </a:p>
          <a:p>
            <a:pPr marL="0" indent="0" algn="l" rtl="0">
              <a:lnSpc>
                <a:spcPct val="105000"/>
              </a:lnSpc>
              <a:spcBef>
                <a:spcPts val="0"/>
              </a:spcBef>
              <a:spcAft>
                <a:spcPts val="0"/>
              </a:spcAft>
              <a:buNone/>
            </a:pPr>
            <a:r>
              <a:rPr lang="en-GB" sz="1100" b="0" i="0">
                <a:solidFill>
                  <a:srgbClr val="595959"/>
                </a:solidFill>
                <a:latin typeface="Roboto"/>
                <a:ea typeface="Roboto"/>
                <a:cs typeface="Roboto"/>
                <a:sym typeface="Roboto"/>
              </a:rPr>
              <a:t>opportunities selected — 21 High, 9 Medium — across 4 CMCC Divisions</a:t>
            </a:r>
          </a:p>
        </p:txBody>
      </p:sp>
      <p:sp>
        <p:nvSpPr>
          <p:cNvPr id="907" name="rc908"/>
          <p:cNvSpPr/>
          <p:nvPr/>
        </p:nvSpPr>
        <p:spPr>
          <a:xfrm>
            <a:off x="4398264" y="1517904"/>
            <a:ext cx="3392424" cy="1097280"/>
          </a:xfrm>
          <a:prstGeom prst="roundRect">
            <a:avLst>
              <a:gd name="adj" fmla="val 6666"/>
            </a:avLst>
          </a:prstGeom>
          <a:solidFill>
            <a:srgbClr val="F1F4F9"/>
          </a:solidFill>
          <a:ln>
            <a:noFill/>
          </a:ln>
        </p:spPr>
        <p:txBody>
          <a:bodyPr/>
          <a:lstStyle/>
          <a:p>
            <a:pPr algn="l" rtl="0">
              <a:buNone/>
            </a:pPr>
          </a:p>
        </p:txBody>
      </p:sp>
      <p:sp>
        <p:nvSpPr>
          <p:cNvPr id="909" name="tb910"/>
          <p:cNvSpPr txBox="1"/>
          <p:nvPr/>
        </p:nvSpPr>
        <p:spPr>
          <a:xfrm>
            <a:off x="4453127" y="1572768"/>
            <a:ext cx="3282696" cy="1005840"/>
          </a:xfrm>
          <a:prstGeom prst="rect">
            <a:avLst/>
          </a:prstGeom>
          <a:noFill/>
          <a:ln>
            <a:noFill/>
          </a:ln>
        </p:spPr>
        <p:txBody>
          <a:bodyPr spcFirstLastPara="1" wrap="square" lIns="109728" tIns="109728" rIns="109728" bIns="109728" anchor="t" anchorCtr="0">
            <a:noAutofit/>
          </a:bodyPr>
          <a:lstStyle/>
          <a:p>
            <a:pPr marL="0" indent="0" algn="l" rtl="0">
              <a:lnSpc>
                <a:spcPct val="95000"/>
              </a:lnSpc>
              <a:spcBef>
                <a:spcPts val="0"/>
              </a:spcBef>
              <a:spcAft>
                <a:spcPts val="200"/>
              </a:spcAft>
              <a:buNone/>
            </a:pPr>
            <a:r>
              <a:rPr lang="en-GB" sz="3200" b="1" i="0">
                <a:solidFill>
                  <a:srgbClr val="1F3864"/>
                </a:solidFill>
                <a:latin typeface="Montserrat"/>
                <a:ea typeface="Montserrat"/>
                <a:cs typeface="Montserrat"/>
                <a:sym typeface="Montserrat"/>
              </a:rPr>
              <a:t>117</a:t>
            </a:r>
          </a:p>
          <a:p>
            <a:pPr marL="0" indent="0" algn="l" rtl="0">
              <a:lnSpc>
                <a:spcPct val="105000"/>
              </a:lnSpc>
              <a:spcBef>
                <a:spcPts val="0"/>
              </a:spcBef>
              <a:spcAft>
                <a:spcPts val="0"/>
              </a:spcAft>
              <a:buNone/>
            </a:pPr>
            <a:r>
              <a:rPr lang="en-GB" sz="1100" b="0" i="0">
                <a:solidFill>
                  <a:srgbClr val="595959"/>
                </a:solidFill>
                <a:latin typeface="Roboto"/>
                <a:ea typeface="Roboto"/>
                <a:cs typeface="Roboto"/>
                <a:sym typeface="Roboto"/>
              </a:rPr>
              <a:t>variable-group references, every one expanded in full</a:t>
            </a:r>
          </a:p>
        </p:txBody>
      </p:sp>
      <p:sp>
        <p:nvSpPr>
          <p:cNvPr id="911" name="rc912"/>
          <p:cNvSpPr/>
          <p:nvPr/>
        </p:nvSpPr>
        <p:spPr>
          <a:xfrm>
            <a:off x="8019288" y="1517904"/>
            <a:ext cx="3392424" cy="1097280"/>
          </a:xfrm>
          <a:prstGeom prst="roundRect">
            <a:avLst>
              <a:gd name="adj" fmla="val 6666"/>
            </a:avLst>
          </a:prstGeom>
          <a:solidFill>
            <a:srgbClr val="F1F4F9"/>
          </a:solidFill>
          <a:ln>
            <a:noFill/>
          </a:ln>
        </p:spPr>
        <p:txBody>
          <a:bodyPr/>
          <a:lstStyle/>
          <a:p>
            <a:pPr algn="l" rtl="0">
              <a:buNone/>
            </a:pPr>
          </a:p>
        </p:txBody>
      </p:sp>
      <p:sp>
        <p:nvSpPr>
          <p:cNvPr id="913" name="tb914"/>
          <p:cNvSpPr txBox="1"/>
          <p:nvPr/>
        </p:nvSpPr>
        <p:spPr>
          <a:xfrm>
            <a:off x="8074152" y="1572768"/>
            <a:ext cx="3282696" cy="1005840"/>
          </a:xfrm>
          <a:prstGeom prst="rect">
            <a:avLst/>
          </a:prstGeom>
          <a:noFill/>
          <a:ln>
            <a:noFill/>
          </a:ln>
        </p:spPr>
        <p:txBody>
          <a:bodyPr spcFirstLastPara="1" wrap="square" lIns="109728" tIns="109728" rIns="109728" bIns="109728" anchor="t" anchorCtr="0">
            <a:noAutofit/>
          </a:bodyPr>
          <a:lstStyle/>
          <a:p>
            <a:pPr marL="0" indent="0" algn="l" rtl="0">
              <a:lnSpc>
                <a:spcPct val="95000"/>
              </a:lnSpc>
              <a:spcBef>
                <a:spcPts val="0"/>
              </a:spcBef>
              <a:spcAft>
                <a:spcPts val="200"/>
              </a:spcAft>
              <a:buNone/>
            </a:pPr>
            <a:r>
              <a:rPr lang="en-GB" sz="3200" b="1" i="0">
                <a:solidFill>
                  <a:srgbClr val="1F3864"/>
                </a:solidFill>
                <a:latin typeface="Montserrat"/>
                <a:ea typeface="Montserrat"/>
                <a:cs typeface="Montserrat"/>
                <a:sym typeface="Montserrat"/>
              </a:rPr>
              <a:t>853</a:t>
            </a:r>
          </a:p>
          <a:p>
            <a:pPr marL="0" indent="0" algn="l" rtl="0">
              <a:lnSpc>
                <a:spcPct val="105000"/>
              </a:lnSpc>
              <a:spcBef>
                <a:spcPts val="0"/>
              </a:spcBef>
              <a:spcAft>
                <a:spcPts val="0"/>
              </a:spcAft>
              <a:buNone/>
            </a:pPr>
            <a:r>
              <a:rPr lang="en-GB" sz="1100" b="0" i="0">
                <a:solidFill>
                  <a:srgbClr val="595959"/>
                </a:solidFill>
                <a:latin typeface="Roboto"/>
                <a:ea typeface="Roboto"/>
                <a:cs typeface="Roboto"/>
                <a:sym typeface="Roboto"/>
              </a:rPr>
              <a:t>requested variables — 660 distinct CMOR names across frequencies</a:t>
            </a:r>
          </a:p>
        </p:txBody>
      </p:sp>
      <p:sp>
        <p:nvSpPr>
          <p:cNvPr id="915" name="tb916"/>
          <p:cNvSpPr txBox="1"/>
          <p:nvPr/>
        </p:nvSpPr>
        <p:spPr>
          <a:xfrm>
            <a:off x="777240" y="2889504"/>
            <a:ext cx="5074920" cy="329184"/>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600" b="1" i="0">
                <a:solidFill>
                  <a:srgbClr val="1F3864"/>
                </a:solidFill>
                <a:latin typeface="Montserrat"/>
                <a:ea typeface="Montserrat"/>
                <a:cs typeface="Montserrat"/>
                <a:sym typeface="Montserrat"/>
              </a:rPr>
              <a:t>Selection criteria</a:t>
            </a:r>
          </a:p>
        </p:txBody>
      </p:sp>
      <p:sp>
        <p:nvSpPr>
          <p:cNvPr id="917" name="tb918"/>
          <p:cNvSpPr txBox="1"/>
          <p:nvPr/>
        </p:nvSpPr>
        <p:spPr>
          <a:xfrm>
            <a:off x="777240" y="3273552"/>
            <a:ext cx="5074920" cy="2240280"/>
          </a:xfrm>
          <a:prstGeom prst="rect">
            <a:avLst/>
          </a:prstGeom>
          <a:noFill/>
          <a:ln>
            <a:noFill/>
          </a:ln>
        </p:spPr>
        <p:txBody>
          <a:bodyPr spcFirstLastPara="1" wrap="square" lIns="0" tIns="0" rIns="0" bIns="0" anchor="t" anchorCtr="0">
            <a:noAutofit/>
          </a:bodyPr>
          <a:lstStyle/>
          <a:p>
            <a:pPr marL="190500" indent="-190500" algn="l" rtl="0">
              <a:lnSpc>
                <a:spcPct val="104000"/>
              </a:lnSpc>
              <a:spcBef>
                <a:spcPts val="0"/>
              </a:spcBef>
              <a:spcAft>
                <a:spcPts val="500"/>
              </a:spcAft>
              <a:buClr>
                <a:srgbClr val="4472C4"/>
              </a:buClr>
              <a:buFont typeface="Arial"/>
              <a:buChar char="•"/>
            </a:pPr>
            <a:r>
              <a:rPr lang="en-GB" sz="1300" b="0" i="0">
                <a:solidFill>
                  <a:srgbClr val="000000"/>
                </a:solidFill>
                <a:latin typeface="Roboto"/>
                <a:ea typeface="Roboto"/>
                <a:cs typeface="Roboto"/>
                <a:sym typeface="Roboto"/>
              </a:rPr>
              <a:t>CMCC per-opportunity priority: High + Medium; every variable of every listed group, no per-variable DR priority filter</a:t>
            </a:r>
          </a:p>
          <a:p>
            <a:pPr marL="190500" indent="-190500" algn="l" rtl="0">
              <a:lnSpc>
                <a:spcPct val="104000"/>
              </a:lnSpc>
              <a:spcBef>
                <a:spcPts val="0"/>
              </a:spcBef>
              <a:spcAft>
                <a:spcPts val="500"/>
              </a:spcAft>
              <a:buClr>
                <a:srgbClr val="4472C4"/>
              </a:buClr>
              <a:buFont typeface="Arial"/>
              <a:buChar char="•"/>
            </a:pPr>
            <a:r>
              <a:rPr lang="en-GB" sz="1300" b="0" i="0">
                <a:solidFill>
                  <a:srgbClr val="000000"/>
                </a:solidFill>
                <a:latin typeface="Roboto"/>
                <a:ea typeface="Roboto"/>
                <a:cs typeface="Roboto"/>
                <a:sym typeface="Roboto"/>
              </a:rPr>
              <a:t>Selection made on DR v1.2.2.2, expanded on v1.2.2.4 with data_request_api — 2 groups renamed in between, re-pointed by name</a:t>
            </a:r>
          </a:p>
          <a:p>
            <a:pPr marL="190500" indent="-190500" algn="l" rtl="0">
              <a:lnSpc>
                <a:spcPct val="104000"/>
              </a:lnSpc>
              <a:spcBef>
                <a:spcPts val="0"/>
              </a:spcBef>
              <a:spcAft>
                <a:spcPts val="500"/>
              </a:spcAft>
              <a:buClr>
                <a:srgbClr val="4472C4"/>
              </a:buClr>
              <a:buFont typeface="Arial"/>
              <a:buChar char="•"/>
            </a:pPr>
            <a:r>
              <a:rPr lang="en-GB" sz="1300" b="0" i="0">
                <a:solidFill>
                  <a:srgbClr val="000000"/>
                </a:solidFill>
                <a:latin typeface="Roboto"/>
                <a:ea typeface="Roboto"/>
                <a:cs typeface="Roboto"/>
                <a:sym typeface="Roboto"/>
              </a:rPr>
              <a:t>All 117 requested groups located in the DR (115 directly, 2 renamed); the build aborts rather than drop a request</a:t>
            </a:r>
          </a:p>
        </p:txBody>
      </p:sp>
      <p:sp>
        <p:nvSpPr>
          <p:cNvPr id="919" name="tb920"/>
          <p:cNvSpPr txBox="1"/>
          <p:nvPr/>
        </p:nvSpPr>
        <p:spPr>
          <a:xfrm>
            <a:off x="777240" y="5102352"/>
            <a:ext cx="5074920" cy="310896"/>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300" b="1" i="0">
                <a:solidFill>
                  <a:srgbClr val="1F3864"/>
                </a:solidFill>
                <a:latin typeface="Montserrat"/>
                <a:ea typeface="Montserrat"/>
                <a:cs typeface="Montserrat"/>
                <a:sym typeface="Montserrat"/>
              </a:rPr>
              <a:t>What comes out</a:t>
            </a:r>
          </a:p>
        </p:txBody>
      </p:sp>
      <p:sp>
        <p:nvSpPr>
          <p:cNvPr id="921" name="tb922"/>
          <p:cNvSpPr txBox="1"/>
          <p:nvPr/>
        </p:nvSpPr>
        <p:spPr>
          <a:xfrm>
            <a:off x="777240" y="5413248"/>
            <a:ext cx="5074920" cy="566928"/>
          </a:xfrm>
          <a:prstGeom prst="rect">
            <a:avLst/>
          </a:prstGeom>
          <a:noFill/>
          <a:ln>
            <a:noFill/>
          </a:ln>
        </p:spPr>
        <p:txBody>
          <a:bodyPr spcFirstLastPara="1" wrap="square" lIns="0" tIns="0" rIns="0" bIns="0" anchor="t" anchorCtr="0">
            <a:noAutofit/>
          </a:bodyPr>
          <a:lstStyle/>
          <a:p>
            <a:pPr marL="190500" indent="-190500" algn="l" rtl="0">
              <a:lnSpc>
                <a:spcPct val="104000"/>
              </a:lnSpc>
              <a:spcBef>
                <a:spcPts val="0"/>
              </a:spcBef>
              <a:spcAft>
                <a:spcPts val="500"/>
              </a:spcAft>
              <a:buClr>
                <a:srgbClr val="4472C4"/>
              </a:buClr>
              <a:buFont typeface="Arial"/>
              <a:buChar char="•"/>
            </a:pPr>
            <a:r>
              <a:rPr lang="en-GB" sz="1150" b="0" i="0">
                <a:solidFill>
                  <a:srgbClr val="000000"/>
                </a:solidFill>
                <a:latin typeface="Roboto"/>
                <a:ea typeface="Roboto"/>
                <a:cs typeface="Roboto"/>
                <a:sym typeface="Roboto"/>
              </a:rPr>
              <a:t>Production tables: frequency | ave/inst | raw model variables</a:t>
            </a:r>
          </a:p>
          <a:p>
            <a:pPr marL="190500" indent="-190500" algn="l" rtl="0">
              <a:lnSpc>
                <a:spcPct val="104000"/>
              </a:lnSpc>
              <a:spcBef>
                <a:spcPts val="0"/>
              </a:spcBef>
              <a:spcAft>
                <a:spcPts val="500"/>
              </a:spcAft>
              <a:buClr>
                <a:srgbClr val="4472C4"/>
              </a:buClr>
              <a:buFont typeface="Arial"/>
              <a:buChar char="•"/>
            </a:pPr>
            <a:r>
              <a:rPr lang="en-GB" sz="1150" b="0" i="0">
                <a:solidFill>
                  <a:srgbClr val="000000"/>
                </a:solidFill>
                <a:latin typeface="Roboto"/>
                <a:ea typeface="Roboto"/>
                <a:cs typeface="Roboto"/>
                <a:sym typeface="Roboto"/>
              </a:rPr>
              <a:t>Every variable traced back to Division, opportunity and group</a:t>
            </a:r>
          </a:p>
        </p:txBody>
      </p:sp>
      <p:sp>
        <p:nvSpPr>
          <p:cNvPr id="923" name="tb924"/>
          <p:cNvSpPr txBox="1"/>
          <p:nvPr/>
        </p:nvSpPr>
        <p:spPr>
          <a:xfrm>
            <a:off x="6336792" y="2889504"/>
            <a:ext cx="5074920" cy="329184"/>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600" b="1" i="0">
                <a:solidFill>
                  <a:srgbClr val="1F3864"/>
                </a:solidFill>
                <a:latin typeface="Montserrat"/>
                <a:ea typeface="Montserrat"/>
                <a:cs typeface="Montserrat"/>
                <a:sym typeface="Montserrat"/>
              </a:rPr>
              <a:t>Can CMCC-ESM3 produce them?</a:t>
            </a:r>
          </a:p>
        </p:txBody>
      </p:sp>
      <p:sp>
        <p:nvSpPr>
          <p:cNvPr id="925" name="rc926"/>
          <p:cNvSpPr/>
          <p:nvPr/>
        </p:nvSpPr>
        <p:spPr>
          <a:xfrm>
            <a:off x="6336792" y="3310128"/>
            <a:ext cx="2593980" cy="237744"/>
          </a:xfrm>
          <a:prstGeom prst="rect">
            <a:avLst/>
          </a:prstGeom>
          <a:solidFill>
            <a:srgbClr val="4472C4"/>
          </a:solidFill>
          <a:ln>
            <a:noFill/>
          </a:ln>
        </p:spPr>
        <p:txBody>
          <a:bodyPr/>
          <a:lstStyle/>
          <a:p>
            <a:pPr algn="l" rtl="0">
              <a:buNone/>
            </a:pPr>
          </a:p>
        </p:txBody>
      </p:sp>
      <p:sp>
        <p:nvSpPr>
          <p:cNvPr id="927" name="rc928"/>
          <p:cNvSpPr/>
          <p:nvPr/>
        </p:nvSpPr>
        <p:spPr>
          <a:xfrm>
            <a:off x="8930772" y="3310128"/>
            <a:ext cx="398616" cy="237744"/>
          </a:xfrm>
          <a:prstGeom prst="rect">
            <a:avLst/>
          </a:prstGeom>
          <a:solidFill>
            <a:srgbClr val="8FAADC"/>
          </a:solidFill>
          <a:ln>
            <a:noFill/>
          </a:ln>
        </p:spPr>
        <p:txBody>
          <a:bodyPr/>
          <a:lstStyle/>
          <a:p>
            <a:pPr algn="l" rtl="0">
              <a:buNone/>
            </a:pPr>
          </a:p>
        </p:txBody>
      </p:sp>
      <p:sp>
        <p:nvSpPr>
          <p:cNvPr id="929" name="rc930"/>
          <p:cNvSpPr/>
          <p:nvPr/>
        </p:nvSpPr>
        <p:spPr>
          <a:xfrm>
            <a:off x="9329388" y="3310128"/>
            <a:ext cx="2082323" cy="237744"/>
          </a:xfrm>
          <a:prstGeom prst="rect">
            <a:avLst/>
          </a:prstGeom>
          <a:solidFill>
            <a:srgbClr val="ED7D31"/>
          </a:solidFill>
          <a:ln>
            <a:noFill/>
          </a:ln>
        </p:spPr>
        <p:txBody>
          <a:bodyPr/>
          <a:lstStyle/>
          <a:p>
            <a:pPr algn="l" rtl="0">
              <a:buNone/>
            </a:pPr>
          </a:p>
        </p:txBody>
      </p:sp>
      <p:sp>
        <p:nvSpPr>
          <p:cNvPr id="931" name="rc932"/>
          <p:cNvSpPr/>
          <p:nvPr/>
        </p:nvSpPr>
        <p:spPr>
          <a:xfrm>
            <a:off x="6336792" y="3776472"/>
            <a:ext cx="118872" cy="118872"/>
          </a:xfrm>
          <a:prstGeom prst="rect">
            <a:avLst/>
          </a:prstGeom>
          <a:solidFill>
            <a:srgbClr val="4472C4"/>
          </a:solidFill>
          <a:ln>
            <a:noFill/>
          </a:ln>
        </p:spPr>
        <p:txBody>
          <a:bodyPr/>
          <a:lstStyle/>
          <a:p>
            <a:pPr algn="l" rtl="0">
              <a:buNone/>
            </a:pPr>
          </a:p>
        </p:txBody>
      </p:sp>
      <p:sp>
        <p:nvSpPr>
          <p:cNvPr id="933" name="tb934"/>
          <p:cNvSpPr txBox="1"/>
          <p:nvPr/>
        </p:nvSpPr>
        <p:spPr>
          <a:xfrm>
            <a:off x="6547104" y="3666744"/>
            <a:ext cx="658368" cy="310896"/>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450" b="1" i="0">
                <a:solidFill>
                  <a:srgbClr val="1F3864"/>
                </a:solidFill>
                <a:latin typeface="Montserrat"/>
                <a:ea typeface="Montserrat"/>
                <a:cs typeface="Montserrat"/>
                <a:sym typeface="Montserrat"/>
              </a:rPr>
              <a:t>436</a:t>
            </a:r>
          </a:p>
        </p:txBody>
      </p:sp>
      <p:sp>
        <p:nvSpPr>
          <p:cNvPr id="935" name="tb936"/>
          <p:cNvSpPr txBox="1"/>
          <p:nvPr/>
        </p:nvSpPr>
        <p:spPr>
          <a:xfrm>
            <a:off x="7242048" y="3685031"/>
            <a:ext cx="4169663" cy="566928"/>
          </a:xfrm>
          <a:prstGeom prst="rect">
            <a:avLst/>
          </a:prstGeom>
          <a:noFill/>
          <a:ln>
            <a:noFill/>
          </a:ln>
        </p:spPr>
        <p:txBody>
          <a:bodyPr spcFirstLastPara="1" wrap="square" lIns="0" tIns="0" rIns="0" bIns="0" anchor="t" anchorCtr="0">
            <a:noAutofit/>
          </a:bodyPr>
          <a:lstStyle/>
          <a:p>
            <a:pPr marL="0" indent="0" algn="l" rtl="0">
              <a:lnSpc>
                <a:spcPct val="104000"/>
              </a:lnSpc>
              <a:spcBef>
                <a:spcPts val="0"/>
              </a:spcBef>
              <a:spcAft>
                <a:spcPts val="0"/>
              </a:spcAft>
              <a:buNone/>
            </a:pPr>
            <a:r>
              <a:rPr lang="en-GB" sz="1150" b="0" i="0">
                <a:solidFill>
                  <a:srgbClr val="000000"/>
                </a:solidFill>
                <a:latin typeface="Roboto"/>
                <a:ea typeface="Roboto"/>
                <a:cs typeface="Roboto"/>
                <a:sym typeface="Roboto"/>
              </a:rPr>
              <a:t>produced today — CMOR name maps to a raw model field</a:t>
            </a:r>
          </a:p>
        </p:txBody>
      </p:sp>
      <p:sp>
        <p:nvSpPr>
          <p:cNvPr id="937" name="rc938"/>
          <p:cNvSpPr/>
          <p:nvPr/>
        </p:nvSpPr>
        <p:spPr>
          <a:xfrm>
            <a:off x="6336792" y="4325112"/>
            <a:ext cx="118872" cy="118872"/>
          </a:xfrm>
          <a:prstGeom prst="rect">
            <a:avLst/>
          </a:prstGeom>
          <a:solidFill>
            <a:srgbClr val="8FAADC"/>
          </a:solidFill>
          <a:ln>
            <a:noFill/>
          </a:ln>
        </p:spPr>
        <p:txBody>
          <a:bodyPr/>
          <a:lstStyle/>
          <a:p>
            <a:pPr algn="l" rtl="0">
              <a:buNone/>
            </a:pPr>
          </a:p>
        </p:txBody>
      </p:sp>
      <p:sp>
        <p:nvSpPr>
          <p:cNvPr id="939" name="tb940"/>
          <p:cNvSpPr txBox="1"/>
          <p:nvPr/>
        </p:nvSpPr>
        <p:spPr>
          <a:xfrm>
            <a:off x="6547104" y="4215383"/>
            <a:ext cx="658368" cy="310896"/>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450" b="1" i="0">
                <a:solidFill>
                  <a:srgbClr val="1F3864"/>
                </a:solidFill>
                <a:latin typeface="Montserrat"/>
                <a:ea typeface="Montserrat"/>
                <a:cs typeface="Montserrat"/>
                <a:sym typeface="Montserrat"/>
              </a:rPr>
              <a:t>67</a:t>
            </a:r>
          </a:p>
        </p:txBody>
      </p:sp>
      <p:sp>
        <p:nvSpPr>
          <p:cNvPr id="941" name="tb942"/>
          <p:cNvSpPr txBox="1"/>
          <p:nvPr/>
        </p:nvSpPr>
        <p:spPr>
          <a:xfrm>
            <a:off x="7242048" y="4233671"/>
            <a:ext cx="4169663" cy="566928"/>
          </a:xfrm>
          <a:prstGeom prst="rect">
            <a:avLst/>
          </a:prstGeom>
          <a:noFill/>
          <a:ln>
            <a:noFill/>
          </a:ln>
        </p:spPr>
        <p:txBody>
          <a:bodyPr spcFirstLastPara="1" wrap="square" lIns="0" tIns="0" rIns="0" bIns="0" anchor="t" anchorCtr="0">
            <a:noAutofit/>
          </a:bodyPr>
          <a:lstStyle/>
          <a:p>
            <a:pPr marL="0" indent="0" algn="l" rtl="0">
              <a:lnSpc>
                <a:spcPct val="104000"/>
              </a:lnSpc>
              <a:spcBef>
                <a:spcPts val="0"/>
              </a:spcBef>
              <a:spcAft>
                <a:spcPts val="0"/>
              </a:spcAft>
              <a:buNone/>
            </a:pPr>
            <a:r>
              <a:rPr lang="en-GB" sz="1150" b="0" i="0">
                <a:solidFill>
                  <a:srgbClr val="000000"/>
                </a:solidFill>
                <a:latin typeface="Roboto"/>
                <a:ea typeface="Roboto"/>
                <a:cs typeface="Roboto"/>
                <a:sym typeface="Roboto"/>
              </a:rPr>
              <a:t>derivable — slice or average of a field already stored, no extra storage</a:t>
            </a:r>
          </a:p>
        </p:txBody>
      </p:sp>
      <p:sp>
        <p:nvSpPr>
          <p:cNvPr id="943" name="rc944"/>
          <p:cNvSpPr/>
          <p:nvPr/>
        </p:nvSpPr>
        <p:spPr>
          <a:xfrm>
            <a:off x="6336792" y="4873751"/>
            <a:ext cx="118872" cy="118872"/>
          </a:xfrm>
          <a:prstGeom prst="rect">
            <a:avLst/>
          </a:prstGeom>
          <a:solidFill>
            <a:srgbClr val="ED7D31"/>
          </a:solidFill>
          <a:ln>
            <a:noFill/>
          </a:ln>
        </p:spPr>
        <p:txBody>
          <a:bodyPr/>
          <a:lstStyle/>
          <a:p>
            <a:pPr algn="l" rtl="0">
              <a:buNone/>
            </a:pPr>
          </a:p>
        </p:txBody>
      </p:sp>
      <p:sp>
        <p:nvSpPr>
          <p:cNvPr id="945" name="tb946"/>
          <p:cNvSpPr txBox="1"/>
          <p:nvPr/>
        </p:nvSpPr>
        <p:spPr>
          <a:xfrm>
            <a:off x="6547104" y="4764023"/>
            <a:ext cx="658368" cy="310896"/>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450" b="1" i="0">
                <a:solidFill>
                  <a:srgbClr val="1F3864"/>
                </a:solidFill>
                <a:latin typeface="Montserrat"/>
                <a:ea typeface="Montserrat"/>
                <a:cs typeface="Montserrat"/>
                <a:sym typeface="Montserrat"/>
              </a:rPr>
              <a:t>350</a:t>
            </a:r>
          </a:p>
        </p:txBody>
      </p:sp>
      <p:sp>
        <p:nvSpPr>
          <p:cNvPr id="947" name="tb948"/>
          <p:cNvSpPr txBox="1"/>
          <p:nvPr/>
        </p:nvSpPr>
        <p:spPr>
          <a:xfrm>
            <a:off x="7242048" y="4782311"/>
            <a:ext cx="4169663" cy="566928"/>
          </a:xfrm>
          <a:prstGeom prst="rect">
            <a:avLst/>
          </a:prstGeom>
          <a:noFill/>
          <a:ln>
            <a:noFill/>
          </a:ln>
        </p:spPr>
        <p:txBody>
          <a:bodyPr spcFirstLastPara="1" wrap="square" lIns="0" tIns="0" rIns="0" bIns="0" anchor="t" anchorCtr="0">
            <a:noAutofit/>
          </a:bodyPr>
          <a:lstStyle/>
          <a:p>
            <a:pPr marL="0" indent="0" algn="l" rtl="0">
              <a:lnSpc>
                <a:spcPct val="104000"/>
              </a:lnSpc>
              <a:spcBef>
                <a:spcPts val="0"/>
              </a:spcBef>
              <a:spcAft>
                <a:spcPts val="0"/>
              </a:spcAft>
              <a:buNone/>
            </a:pPr>
            <a:r>
              <a:rPr lang="en-GB" sz="1150" b="0" i="0">
                <a:solidFill>
                  <a:srgbClr val="000000"/>
                </a:solidFill>
                <a:latin typeface="Roboto"/>
                <a:ea typeface="Roboto"/>
                <a:cs typeface="Roboto"/>
                <a:sym typeface="Roboto"/>
              </a:rPr>
              <a:t>true gap — no model output yet: add, derive, enable or drop</a:t>
            </a:r>
          </a:p>
        </p:txBody>
      </p:sp>
      <p:sp>
        <p:nvSpPr>
          <p:cNvPr id="949" name="tb950"/>
          <p:cNvSpPr txBox="1"/>
          <p:nvPr/>
        </p:nvSpPr>
        <p:spPr>
          <a:xfrm>
            <a:off x="6336792" y="5230368"/>
            <a:ext cx="5074920" cy="566928"/>
          </a:xfrm>
          <a:prstGeom prst="rect">
            <a:avLst/>
          </a:prstGeom>
          <a:noFill/>
          <a:ln>
            <a:noFill/>
          </a:ln>
        </p:spPr>
        <p:txBody>
          <a:bodyPr spcFirstLastPara="1" wrap="square" lIns="0" tIns="0" rIns="0" bIns="0" anchor="t" anchorCtr="0">
            <a:noAutofit/>
          </a:bodyPr>
          <a:lstStyle/>
          <a:p>
            <a:pPr marL="0" indent="0" algn="l" rtl="0">
              <a:lnSpc>
                <a:spcPct val="104000"/>
              </a:lnSpc>
              <a:spcBef>
                <a:spcPts val="0"/>
              </a:spcBef>
              <a:spcAft>
                <a:spcPts val="0"/>
              </a:spcAft>
              <a:buNone/>
            </a:pPr>
            <a:r>
              <a:rPr lang="en-GB" sz="1100" b="0" i="1">
                <a:solidFill>
                  <a:srgbClr val="595959"/>
                </a:solidFill>
                <a:latin typeface="Roboto"/>
                <a:ea typeface="Roboto"/>
                <a:cs typeface="Roboto"/>
                <a:sym typeface="Roboto"/>
              </a:rPr>
              <a:t>Gaps by realm: land 96, atmos 65, ocean BGC 55, aerosol 49, ocean 34, atmos chemistry 23, sea ice 18, land ice 10. Aerosol and atmospheric chemistry are almost entirely gaps (2 of 75 producible).</a:t>
            </a:r>
          </a:p>
        </p:txBody>
      </p:sp>
      <p:sp>
        <p:nvSpPr>
          <p:cNvPr id="951" name="tb952"/>
          <p:cNvSpPr txBox="1"/>
          <p:nvPr/>
        </p:nvSpPr>
        <p:spPr>
          <a:xfrm>
            <a:off x="777240" y="6144768"/>
            <a:ext cx="10634472" cy="777240"/>
          </a:xfrm>
          <a:prstGeom prst="rect">
            <a:avLst/>
          </a:prstGeom>
          <a:noFill/>
          <a:ln>
            <a:noFill/>
          </a:ln>
        </p:spPr>
        <p:txBody>
          <a:bodyPr spcFirstLastPara="1" wrap="square" lIns="0" tIns="0" rIns="0" bIns="0" anchor="t" anchorCtr="0">
            <a:noAutofit/>
          </a:bodyPr>
          <a:lstStyle/>
          <a:p>
            <a:pPr marL="0" indent="0" algn="l" rtl="0">
              <a:lnSpc>
                <a:spcPct val="110000"/>
              </a:lnSpc>
              <a:spcBef>
                <a:spcPts val="0"/>
              </a:spcBef>
              <a:spcAft>
                <a:spcPts val="100"/>
              </a:spcAft>
              <a:buNone/>
            </a:pPr>
            <a:r>
              <a:rPr lang="en-GB" sz="1000" b="0" i="0">
                <a:solidFill>
                  <a:srgbClr val="595959"/>
                </a:solidFill>
                <a:latin typeface="Roboto"/>
                <a:ea typeface="Roboto"/>
                <a:cs typeface="Roboto"/>
                <a:sym typeface="Roboto"/>
              </a:rPr>
              <a:t>853 counts one entry per requested variable × frequency × statistic (the unit the model output configuration needs); the same field at daily and monthly is one raw model variable, hence 660 distinct CMOR names.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pic>
        <p:nvPicPr>
          <p:cNvPr id="254" name="Google Shape;254;p26"/>
          <p:cNvPicPr preferRelativeResize="0"/>
          <p:nvPr/>
        </p:nvPicPr>
        <p:blipFill rotWithShape="1">
          <a:blip r:embed="rId3">
            <a:alphaModFix/>
          </a:blip>
          <a:srcRect/>
          <a:stretch/>
        </p:blipFill>
        <p:spPr>
          <a:xfrm>
            <a:off x="-11274" y="0"/>
            <a:ext cx="12203273" cy="1025480"/>
          </a:xfrm>
          <a:prstGeom prst="rect">
            <a:avLst/>
          </a:prstGeom>
          <a:noFill/>
          <a:ln>
            <a:noFill/>
          </a:ln>
        </p:spPr>
      </p:pic>
      <p:sp>
        <p:nvSpPr>
          <p:cNvPr id="255" name="Google Shape;255;p26"/>
          <p:cNvSpPr txBox="1"/>
          <p:nvPr/>
        </p:nvSpPr>
        <p:spPr>
          <a:xfrm>
            <a:off x="672531" y="361025"/>
            <a:ext cx="8743800" cy="522000"/>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dk1"/>
              </a:buClr>
              <a:buSzPts val="4400"/>
              <a:buFont typeface="Calibri"/>
              <a:buNone/>
            </a:pPr>
            <a:r>
              <a:rPr lang="it-IT" sz="3200" b="1">
                <a:solidFill>
                  <a:schemeClr val="lt1"/>
                </a:solidFill>
                <a:latin typeface="Montserrat"/>
                <a:ea typeface="Montserrat"/>
                <a:cs typeface="Montserrat"/>
                <a:sym typeface="Montserrat"/>
              </a:rPr>
              <a:t>CMCC AR7-FT Data Request (2)</a:t>
            </a:r>
            <a:endParaRPr sz="3200" b="0" i="0" u="none" strike="noStrike" cap="none">
              <a:solidFill>
                <a:schemeClr val="lt1"/>
              </a:solidFill>
              <a:latin typeface="Arial"/>
              <a:ea typeface="Arial"/>
              <a:cs typeface="Arial"/>
              <a:sym typeface="Arial"/>
            </a:endParaRPr>
          </a:p>
        </p:txBody>
      </p:sp>
      <p:sp>
        <p:nvSpPr>
          <p:cNvPr id="256" name="Google Shape;256;p26"/>
          <p:cNvSpPr/>
          <p:nvPr/>
        </p:nvSpPr>
        <p:spPr>
          <a:xfrm>
            <a:off x="-151579" y="1019517"/>
            <a:ext cx="12483900" cy="45600"/>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B0F0"/>
              </a:solidFill>
              <a:latin typeface="Arial"/>
              <a:ea typeface="Arial"/>
              <a:cs typeface="Arial"/>
              <a:sym typeface="Arial"/>
            </a:endParaRPr>
          </a:p>
        </p:txBody>
      </p:sp>
      <p:sp>
        <p:nvSpPr>
          <p:cNvPr id="257" name="Google Shape;257;p26"/>
          <p:cNvSpPr/>
          <p:nvPr/>
        </p:nvSpPr>
        <p:spPr>
          <a:xfrm>
            <a:off x="-11274" y="6786545"/>
            <a:ext cx="12203400" cy="891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258" name="Google Shape;258;p26" descr="Immagine che contiene Carattere, Elementi grafici, logo, simbolo  Descrizione generata automaticamente"/>
          <p:cNvPicPr preferRelativeResize="0"/>
          <p:nvPr/>
        </p:nvPicPr>
        <p:blipFill rotWithShape="1">
          <a:blip r:embed="rId4">
            <a:alphaModFix/>
          </a:blip>
          <a:srcRect/>
          <a:stretch/>
        </p:blipFill>
        <p:spPr>
          <a:xfrm>
            <a:off x="9727799" y="207657"/>
            <a:ext cx="1978358" cy="675420"/>
          </a:xfrm>
          <a:prstGeom prst="rect">
            <a:avLst/>
          </a:prstGeom>
          <a:noFill/>
          <a:ln>
            <a:noFill/>
          </a:ln>
        </p:spPr>
      </p:pic>
      <p:sp>
        <p:nvSpPr>
          <p:cNvPr id="953" name="tb954"/>
          <p:cNvSpPr txBox="1"/>
          <p:nvPr/>
        </p:nvSpPr>
        <p:spPr>
          <a:xfrm>
            <a:off x="777240" y="1133856"/>
            <a:ext cx="10634472" cy="310896"/>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250" b="0" i="1">
                <a:solidFill>
                  <a:srgbClr val="595959"/>
                </a:solidFill>
                <a:latin typeface="Roboto"/>
                <a:ea typeface="Roboto"/>
                <a:cs typeface="Roboto"/>
                <a:sym typeface="Roboto"/>
              </a:rPr>
              <a:t>Storage cost on the CMCC-ESM3 grid — GB per simulated model-year, uncompressed on-disk size</a:t>
            </a:r>
          </a:p>
        </p:txBody>
      </p:sp>
      <p:sp>
        <p:nvSpPr>
          <p:cNvPr id="955" name="rc956"/>
          <p:cNvSpPr/>
          <p:nvPr/>
        </p:nvSpPr>
        <p:spPr>
          <a:xfrm>
            <a:off x="777240" y="1517904"/>
            <a:ext cx="3392424" cy="1097280"/>
          </a:xfrm>
          <a:prstGeom prst="roundRect">
            <a:avLst>
              <a:gd name="adj" fmla="val 6666"/>
            </a:avLst>
          </a:prstGeom>
          <a:solidFill>
            <a:srgbClr val="F1F4F9"/>
          </a:solidFill>
          <a:ln>
            <a:noFill/>
          </a:ln>
        </p:spPr>
        <p:txBody>
          <a:bodyPr/>
          <a:lstStyle/>
          <a:p>
            <a:pPr algn="l" rtl="0">
              <a:buNone/>
            </a:pPr>
          </a:p>
        </p:txBody>
      </p:sp>
      <p:sp>
        <p:nvSpPr>
          <p:cNvPr id="957" name="tb958"/>
          <p:cNvSpPr txBox="1"/>
          <p:nvPr/>
        </p:nvSpPr>
        <p:spPr>
          <a:xfrm>
            <a:off x="832103" y="1572768"/>
            <a:ext cx="3282696" cy="1005840"/>
          </a:xfrm>
          <a:prstGeom prst="rect">
            <a:avLst/>
          </a:prstGeom>
          <a:noFill/>
          <a:ln>
            <a:noFill/>
          </a:ln>
        </p:spPr>
        <p:txBody>
          <a:bodyPr spcFirstLastPara="1" wrap="square" lIns="109728" tIns="109728" rIns="109728" bIns="109728" anchor="t" anchorCtr="0">
            <a:noAutofit/>
          </a:bodyPr>
          <a:lstStyle/>
          <a:p>
            <a:pPr marL="0" indent="0" algn="l" rtl="0">
              <a:lnSpc>
                <a:spcPct val="95000"/>
              </a:lnSpc>
              <a:spcBef>
                <a:spcPts val="0"/>
              </a:spcBef>
              <a:spcAft>
                <a:spcPts val="200"/>
              </a:spcAft>
              <a:buNone/>
            </a:pPr>
            <a:r>
              <a:rPr lang="en-GB" sz="3200" b="1" i="0">
                <a:solidFill>
                  <a:srgbClr val="1F3864"/>
                </a:solidFill>
                <a:latin typeface="Montserrat"/>
                <a:ea typeface="Montserrat"/>
                <a:cs typeface="Montserrat"/>
                <a:sym typeface="Montserrat"/>
              </a:rPr>
              <a:t>213</a:t>
            </a:r>
            <a:r>
              <a:rPr lang="en-GB" sz="1500" b="1" i="0">
                <a:solidFill>
                  <a:srgbClr val="4472C4"/>
                </a:solidFill>
                <a:latin typeface="Montserrat"/>
                <a:ea typeface="Montserrat"/>
                <a:cs typeface="Montserrat"/>
                <a:sym typeface="Montserrat"/>
              </a:rPr>
              <a:t> GB/yr</a:t>
            </a:r>
          </a:p>
          <a:p>
            <a:pPr marL="0" indent="0" algn="l" rtl="0">
              <a:lnSpc>
                <a:spcPct val="105000"/>
              </a:lnSpc>
              <a:spcBef>
                <a:spcPts val="0"/>
              </a:spcBef>
              <a:spcAft>
                <a:spcPts val="0"/>
              </a:spcAft>
              <a:buNone/>
            </a:pPr>
            <a:r>
              <a:rPr lang="en-GB" sz="1100" b="0" i="0">
                <a:solidFill>
                  <a:srgbClr val="595959"/>
                </a:solidFill>
                <a:latin typeface="Roboto"/>
                <a:ea typeface="Roboto"/>
                <a:cs typeface="Roboto"/>
                <a:sym typeface="Roboto"/>
              </a:rPr>
              <a:t>produced today — about 2× a CMIP6 model-year</a:t>
            </a:r>
          </a:p>
        </p:txBody>
      </p:sp>
      <p:sp>
        <p:nvSpPr>
          <p:cNvPr id="959" name="rc960"/>
          <p:cNvSpPr/>
          <p:nvPr/>
        </p:nvSpPr>
        <p:spPr>
          <a:xfrm>
            <a:off x="4398264" y="1517904"/>
            <a:ext cx="3392424" cy="1097280"/>
          </a:xfrm>
          <a:prstGeom prst="roundRect">
            <a:avLst>
              <a:gd name="adj" fmla="val 6666"/>
            </a:avLst>
          </a:prstGeom>
          <a:solidFill>
            <a:srgbClr val="F1F4F9"/>
          </a:solidFill>
          <a:ln>
            <a:noFill/>
          </a:ln>
        </p:spPr>
        <p:txBody>
          <a:bodyPr/>
          <a:lstStyle/>
          <a:p>
            <a:pPr algn="l" rtl="0">
              <a:buNone/>
            </a:pPr>
          </a:p>
        </p:txBody>
      </p:sp>
      <p:sp>
        <p:nvSpPr>
          <p:cNvPr id="961" name="tb962"/>
          <p:cNvSpPr txBox="1"/>
          <p:nvPr/>
        </p:nvSpPr>
        <p:spPr>
          <a:xfrm>
            <a:off x="4453127" y="1572768"/>
            <a:ext cx="3282696" cy="1005840"/>
          </a:xfrm>
          <a:prstGeom prst="rect">
            <a:avLst/>
          </a:prstGeom>
          <a:noFill/>
          <a:ln>
            <a:noFill/>
          </a:ln>
        </p:spPr>
        <p:txBody>
          <a:bodyPr spcFirstLastPara="1" wrap="square" lIns="109728" tIns="109728" rIns="109728" bIns="109728" anchor="t" anchorCtr="0">
            <a:noAutofit/>
          </a:bodyPr>
          <a:lstStyle/>
          <a:p>
            <a:pPr marL="0" indent="0" algn="l" rtl="0">
              <a:lnSpc>
                <a:spcPct val="95000"/>
              </a:lnSpc>
              <a:spcBef>
                <a:spcPts val="0"/>
              </a:spcBef>
              <a:spcAft>
                <a:spcPts val="200"/>
              </a:spcAft>
              <a:buNone/>
            </a:pPr>
            <a:r>
              <a:rPr lang="en-GB" sz="3200" b="1" i="0">
                <a:solidFill>
                  <a:srgbClr val="1F3864"/>
                </a:solidFill>
                <a:latin typeface="Montserrat"/>
                <a:ea typeface="Montserrat"/>
                <a:cs typeface="Montserrat"/>
                <a:sym typeface="Montserrat"/>
              </a:rPr>
              <a:t>+224</a:t>
            </a:r>
            <a:r>
              <a:rPr lang="en-GB" sz="1500" b="1" i="0">
                <a:solidFill>
                  <a:srgbClr val="4472C4"/>
                </a:solidFill>
                <a:latin typeface="Montserrat"/>
                <a:ea typeface="Montserrat"/>
                <a:cs typeface="Montserrat"/>
                <a:sym typeface="Montserrat"/>
              </a:rPr>
              <a:t> GB/yr</a:t>
            </a:r>
          </a:p>
          <a:p>
            <a:pPr marL="0" indent="0" algn="l" rtl="0">
              <a:lnSpc>
                <a:spcPct val="105000"/>
              </a:lnSpc>
              <a:spcBef>
                <a:spcPts val="0"/>
              </a:spcBef>
              <a:spcAft>
                <a:spcPts val="0"/>
              </a:spcAft>
              <a:buNone/>
            </a:pPr>
            <a:r>
              <a:rPr lang="en-GB" sz="1100" b="0" i="0">
                <a:solidFill>
                  <a:srgbClr val="595959"/>
                </a:solidFill>
                <a:latin typeface="Roboto"/>
                <a:ea typeface="Roboto"/>
                <a:cs typeface="Roboto"/>
                <a:sym typeface="Roboto"/>
              </a:rPr>
              <a:t>extra storage to cover every true gap</a:t>
            </a:r>
          </a:p>
        </p:txBody>
      </p:sp>
      <p:sp>
        <p:nvSpPr>
          <p:cNvPr id="963" name="rc964"/>
          <p:cNvSpPr/>
          <p:nvPr/>
        </p:nvSpPr>
        <p:spPr>
          <a:xfrm>
            <a:off x="8019288" y="1517904"/>
            <a:ext cx="3392424" cy="1097280"/>
          </a:xfrm>
          <a:prstGeom prst="roundRect">
            <a:avLst>
              <a:gd name="adj" fmla="val 6666"/>
            </a:avLst>
          </a:prstGeom>
          <a:solidFill>
            <a:srgbClr val="F1F4F9"/>
          </a:solidFill>
          <a:ln>
            <a:noFill/>
          </a:ln>
        </p:spPr>
        <p:txBody>
          <a:bodyPr/>
          <a:lstStyle/>
          <a:p>
            <a:pPr algn="l" rtl="0">
              <a:buNone/>
            </a:pPr>
          </a:p>
        </p:txBody>
      </p:sp>
      <p:sp>
        <p:nvSpPr>
          <p:cNvPr id="965" name="tb966"/>
          <p:cNvSpPr txBox="1"/>
          <p:nvPr/>
        </p:nvSpPr>
        <p:spPr>
          <a:xfrm>
            <a:off x="8074152" y="1572768"/>
            <a:ext cx="3282696" cy="1005840"/>
          </a:xfrm>
          <a:prstGeom prst="rect">
            <a:avLst/>
          </a:prstGeom>
          <a:noFill/>
          <a:ln>
            <a:noFill/>
          </a:ln>
        </p:spPr>
        <p:txBody>
          <a:bodyPr spcFirstLastPara="1" wrap="square" lIns="109728" tIns="109728" rIns="109728" bIns="109728" anchor="t" anchorCtr="0">
            <a:noAutofit/>
          </a:bodyPr>
          <a:lstStyle/>
          <a:p>
            <a:pPr marL="0" indent="0" algn="l" rtl="0">
              <a:lnSpc>
                <a:spcPct val="95000"/>
              </a:lnSpc>
              <a:spcBef>
                <a:spcPts val="0"/>
              </a:spcBef>
              <a:spcAft>
                <a:spcPts val="200"/>
              </a:spcAft>
              <a:buNone/>
            </a:pPr>
            <a:r>
              <a:rPr lang="en-GB" sz="3200" b="1" i="0">
                <a:solidFill>
                  <a:srgbClr val="1F3864"/>
                </a:solidFill>
                <a:latin typeface="Montserrat"/>
                <a:ea typeface="Montserrat"/>
                <a:cs typeface="Montserrat"/>
                <a:sym typeface="Montserrat"/>
              </a:rPr>
              <a:t>437</a:t>
            </a:r>
            <a:r>
              <a:rPr lang="en-GB" sz="1500" b="1" i="0">
                <a:solidFill>
                  <a:srgbClr val="4472C4"/>
                </a:solidFill>
                <a:latin typeface="Montserrat"/>
                <a:ea typeface="Montserrat"/>
                <a:cs typeface="Montserrat"/>
                <a:sym typeface="Montserrat"/>
              </a:rPr>
              <a:t> GB/yr</a:t>
            </a:r>
          </a:p>
          <a:p>
            <a:pPr marL="0" indent="0" algn="l" rtl="0">
              <a:lnSpc>
                <a:spcPct val="105000"/>
              </a:lnSpc>
              <a:spcBef>
                <a:spcPts val="0"/>
              </a:spcBef>
              <a:spcAft>
                <a:spcPts val="0"/>
              </a:spcAft>
              <a:buNone/>
            </a:pPr>
            <a:r>
              <a:rPr lang="en-GB" sz="1100" b="0" i="0">
                <a:solidFill>
                  <a:srgbClr val="595959"/>
                </a:solidFill>
                <a:latin typeface="Roboto"/>
                <a:ea typeface="Roboto"/>
                <a:cs typeface="Roboto"/>
                <a:sym typeface="Roboto"/>
              </a:rPr>
              <a:t>full request ≈ 4.4× CMIP6; derivable variables are free</a:t>
            </a:r>
          </a:p>
        </p:txBody>
      </p:sp>
      <p:sp>
        <p:nvSpPr>
          <p:cNvPr id="967" name="tb968"/>
          <p:cNvSpPr txBox="1"/>
          <p:nvPr/>
        </p:nvSpPr>
        <p:spPr>
          <a:xfrm>
            <a:off x="777240" y="2889504"/>
            <a:ext cx="5577840" cy="329184"/>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600" b="1" i="0">
                <a:solidFill>
                  <a:srgbClr val="1F3864"/>
                </a:solidFill>
                <a:latin typeface="Montserrat"/>
                <a:ea typeface="Montserrat"/>
                <a:cs typeface="Montserrat"/>
                <a:sym typeface="Montserrat"/>
              </a:rPr>
              <a:t>Where the cost sits</a:t>
            </a:r>
          </a:p>
        </p:txBody>
      </p:sp>
      <p:sp>
        <p:nvSpPr>
          <p:cNvPr id="969" name="tb970"/>
          <p:cNvSpPr txBox="1"/>
          <p:nvPr/>
        </p:nvSpPr>
        <p:spPr>
          <a:xfrm>
            <a:off x="777240" y="3273552"/>
            <a:ext cx="5577840" cy="2377440"/>
          </a:xfrm>
          <a:prstGeom prst="rect">
            <a:avLst/>
          </a:prstGeom>
          <a:noFill/>
          <a:ln>
            <a:noFill/>
          </a:ln>
        </p:spPr>
        <p:txBody>
          <a:bodyPr spcFirstLastPara="1" wrap="square" lIns="0" tIns="0" rIns="0" bIns="0" anchor="t" anchorCtr="0">
            <a:noAutofit/>
          </a:bodyPr>
          <a:lstStyle/>
          <a:p>
            <a:pPr marL="190500" indent="-190500" algn="l" rtl="0">
              <a:lnSpc>
                <a:spcPct val="104000"/>
              </a:lnSpc>
              <a:spcBef>
                <a:spcPts val="0"/>
              </a:spcBef>
              <a:spcAft>
                <a:spcPts val="500"/>
              </a:spcAft>
              <a:buClr>
                <a:srgbClr val="4472C4"/>
              </a:buClr>
              <a:buFont typeface="Arial"/>
              <a:buChar char="•"/>
            </a:pPr>
            <a:r>
              <a:rPr lang="en-GB" sz="1250" b="0" i="0">
                <a:solidFill>
                  <a:srgbClr val="000000"/>
                </a:solidFill>
                <a:latin typeface="Roboto"/>
                <a:ea typeface="Roboto"/>
                <a:cs typeface="Roboto"/>
                <a:sym typeface="Roboto"/>
              </a:rPr>
              <a:t>Ocean 3-hourly is the whole story: 174 of the 224 GB gap (daily 41, monthly 10)</a:t>
            </a:r>
          </a:p>
          <a:p>
            <a:pPr marL="190500" indent="-190500" algn="l" rtl="0">
              <a:lnSpc>
                <a:spcPct val="104000"/>
              </a:lnSpc>
              <a:spcBef>
                <a:spcPts val="0"/>
              </a:spcBef>
              <a:spcAft>
                <a:spcPts val="500"/>
              </a:spcAft>
              <a:buClr>
                <a:srgbClr val="4472C4"/>
              </a:buClr>
              <a:buFont typeface="Arial"/>
              <a:buChar char="•"/>
            </a:pPr>
            <a:r>
              <a:rPr lang="en-GB" sz="1250" b="0" i="0">
                <a:solidFill>
                  <a:srgbClr val="000000"/>
                </a:solidFill>
                <a:latin typeface="Roboto"/>
                <a:ea typeface="Roboto"/>
                <a:cs typeface="Roboto"/>
                <a:sym typeface="Roboto"/>
              </a:rPr>
              <a:t>Two fields alone are 76 % of the gap — ficeberg 86 and hfrunoffds 85 GB/yr</a:t>
            </a:r>
          </a:p>
          <a:p>
            <a:pPr marL="190500" indent="-190500" algn="l" rtl="0">
              <a:lnSpc>
                <a:spcPct val="104000"/>
              </a:lnSpc>
              <a:spcBef>
                <a:spcPts val="0"/>
              </a:spcBef>
              <a:spcAft>
                <a:spcPts val="500"/>
              </a:spcAft>
              <a:buClr>
                <a:srgbClr val="4472C4"/>
              </a:buClr>
              <a:buFont typeface="Arial"/>
              <a:buChar char="•"/>
            </a:pPr>
            <a:r>
              <a:rPr lang="en-GB" sz="1250" b="0" i="0">
                <a:solidFill>
                  <a:srgbClr val="000000"/>
                </a:solidFill>
                <a:latin typeface="Roboto"/>
                <a:ea typeface="Roboto"/>
                <a:cs typeface="Roboto"/>
                <a:sym typeface="Roboto"/>
              </a:rPr>
              <a:t>One 3-D ocean field at 3hr ≈ 92 GB/yr; the same field at 3-D atmos ≈ 33 GB/yr</a:t>
            </a:r>
          </a:p>
          <a:p>
            <a:pPr marL="190500" indent="-190500" algn="l" rtl="0">
              <a:lnSpc>
                <a:spcPct val="104000"/>
              </a:lnSpc>
              <a:spcBef>
                <a:spcPts val="0"/>
              </a:spcBef>
              <a:spcAft>
                <a:spcPts val="500"/>
              </a:spcAft>
              <a:buClr>
                <a:srgbClr val="4472C4"/>
              </a:buClr>
              <a:buFont typeface="Arial"/>
              <a:buChar char="•"/>
            </a:pPr>
            <a:r>
              <a:rPr lang="en-GB" sz="1250" b="0" i="0">
                <a:solidFill>
                  <a:srgbClr val="000000"/>
                </a:solidFill>
                <a:latin typeface="Roboto"/>
                <a:ea typeface="Roboto"/>
                <a:cs typeface="Roboto"/>
                <a:sym typeface="Roboto"/>
              </a:rPr>
              <a:t>6-hourly and 1-hourly requests have no gaps — 82 and 14 GB/yr, produced today</a:t>
            </a:r>
          </a:p>
        </p:txBody>
      </p:sp>
      <p:sp>
        <p:nvSpPr>
          <p:cNvPr id="971" name="rc972"/>
          <p:cNvSpPr/>
          <p:nvPr/>
        </p:nvSpPr>
        <p:spPr>
          <a:xfrm>
            <a:off x="777240" y="5358384"/>
            <a:ext cx="5577840" cy="475488"/>
          </a:xfrm>
          <a:prstGeom prst="roundRect">
            <a:avLst>
              <a:gd name="adj" fmla="val 15384"/>
            </a:avLst>
          </a:prstGeom>
          <a:solidFill>
            <a:srgbClr val="F1F4F9"/>
          </a:solidFill>
          <a:ln>
            <a:noFill/>
          </a:ln>
        </p:spPr>
        <p:txBody>
          <a:bodyPr/>
          <a:lstStyle/>
          <a:p>
            <a:pPr algn="l" rtl="0">
              <a:buNone/>
            </a:pPr>
          </a:p>
        </p:txBody>
      </p:sp>
      <p:sp>
        <p:nvSpPr>
          <p:cNvPr id="973" name="tb974"/>
          <p:cNvSpPr txBox="1"/>
          <p:nvPr/>
        </p:nvSpPr>
        <p:spPr>
          <a:xfrm>
            <a:off x="886968" y="5358384"/>
            <a:ext cx="5358384" cy="475488"/>
          </a:xfrm>
          <a:prstGeom prst="rect">
            <a:avLst/>
          </a:prstGeom>
          <a:noFill/>
          <a:ln>
            <a:noFill/>
          </a:ln>
        </p:spPr>
        <p:txBody>
          <a:bodyPr spcFirstLastPara="1" wrap="square" lIns="0" tIns="0" rIns="0" bIns="0" anchor="ctr" anchorCtr="0">
            <a:noAutofit/>
          </a:bodyPr>
          <a:lstStyle/>
          <a:p>
            <a:pPr marL="0" indent="0" algn="l" rtl="0">
              <a:lnSpc>
                <a:spcPct val="100000"/>
              </a:lnSpc>
              <a:spcBef>
                <a:spcPts val="0"/>
              </a:spcBef>
              <a:spcAft>
                <a:spcPts val="0"/>
              </a:spcAft>
              <a:buNone/>
            </a:pPr>
            <a:r>
              <a:rPr lang="en-GB" sz="1200" b="1" i="0">
                <a:solidFill>
                  <a:srgbClr val="1F3864"/>
                </a:solidFill>
                <a:latin typeface="Montserrat"/>
                <a:ea typeface="Montserrat"/>
                <a:cs typeface="Montserrat"/>
                <a:sym typeface="Montserrat"/>
              </a:rPr>
              <a:t>Trimming lever: </a:t>
            </a:r>
            <a:r>
              <a:rPr lang="en-GB" sz="1200" b="1" i="0">
                <a:solidFill>
                  <a:srgbClr val="ED7D31"/>
                </a:solidFill>
                <a:latin typeface="Montserrat"/>
                <a:ea typeface="Montserrat"/>
                <a:cs typeface="Montserrat"/>
                <a:sym typeface="Montserrat"/>
              </a:rPr>
              <a:t>ocean sub-daily 3-D output</a:t>
            </a:r>
          </a:p>
        </p:txBody>
      </p:sp>
      <p:sp>
        <p:nvSpPr>
          <p:cNvPr id="975" name="tb976"/>
          <p:cNvSpPr txBox="1"/>
          <p:nvPr/>
        </p:nvSpPr>
        <p:spPr>
          <a:xfrm>
            <a:off x="6812280" y="2889504"/>
            <a:ext cx="4599432" cy="329184"/>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600" b="1" i="0">
                <a:solidFill>
                  <a:srgbClr val="1F3864"/>
                </a:solidFill>
                <a:latin typeface="Montserrat"/>
                <a:ea typeface="Montserrat"/>
                <a:cs typeface="Montserrat"/>
                <a:sym typeface="Montserrat"/>
              </a:rPr>
              <a:t>GB per model-year</a:t>
            </a:r>
          </a:p>
        </p:txBody>
      </p:sp>
      <p:sp>
        <p:nvSpPr>
          <p:cNvPr id="977" name="tb978"/>
          <p:cNvSpPr txBox="1"/>
          <p:nvPr/>
        </p:nvSpPr>
        <p:spPr>
          <a:xfrm>
            <a:off x="6812280" y="3328416"/>
            <a:ext cx="4599432" cy="256032"/>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100" b="0" i="0">
                <a:solidFill>
                  <a:srgbClr val="595959"/>
                </a:solidFill>
                <a:latin typeface="Roboto"/>
                <a:ea typeface="Roboto"/>
                <a:cs typeface="Roboto"/>
                <a:sym typeface="Roboto"/>
              </a:rPr>
              <a:t>CMIP6 reference</a:t>
            </a:r>
          </a:p>
        </p:txBody>
      </p:sp>
      <p:sp>
        <p:nvSpPr>
          <p:cNvPr id="979" name="rc980"/>
          <p:cNvSpPr/>
          <p:nvPr/>
        </p:nvSpPr>
        <p:spPr>
          <a:xfrm>
            <a:off x="6812280" y="3602736"/>
            <a:ext cx="962526" cy="274320"/>
          </a:xfrm>
          <a:prstGeom prst="rect">
            <a:avLst/>
          </a:prstGeom>
          <a:solidFill>
            <a:srgbClr val="A5A5A5"/>
          </a:solidFill>
          <a:ln>
            <a:noFill/>
          </a:ln>
        </p:spPr>
        <p:txBody>
          <a:bodyPr/>
          <a:lstStyle/>
          <a:p>
            <a:pPr algn="l" rtl="0">
              <a:buNone/>
            </a:pPr>
          </a:p>
        </p:txBody>
      </p:sp>
      <p:sp>
        <p:nvSpPr>
          <p:cNvPr id="981" name="tb982"/>
          <p:cNvSpPr txBox="1"/>
          <p:nvPr/>
        </p:nvSpPr>
        <p:spPr>
          <a:xfrm>
            <a:off x="7829670" y="3584448"/>
            <a:ext cx="914400" cy="292608"/>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250" b="1" i="0">
                <a:solidFill>
                  <a:srgbClr val="1F3864"/>
                </a:solidFill>
                <a:latin typeface="Montserrat"/>
                <a:ea typeface="Montserrat"/>
                <a:cs typeface="Montserrat"/>
                <a:sym typeface="Montserrat"/>
              </a:rPr>
              <a:t>100</a:t>
            </a:r>
          </a:p>
        </p:txBody>
      </p:sp>
      <p:sp>
        <p:nvSpPr>
          <p:cNvPr id="983" name="tb984"/>
          <p:cNvSpPr txBox="1"/>
          <p:nvPr/>
        </p:nvSpPr>
        <p:spPr>
          <a:xfrm>
            <a:off x="6812280" y="4059936"/>
            <a:ext cx="4599432" cy="256032"/>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100" b="0" i="0">
                <a:solidFill>
                  <a:srgbClr val="595959"/>
                </a:solidFill>
                <a:latin typeface="Roboto"/>
                <a:ea typeface="Roboto"/>
                <a:cs typeface="Roboto"/>
                <a:sym typeface="Roboto"/>
              </a:rPr>
              <a:t>Produced today</a:t>
            </a:r>
          </a:p>
        </p:txBody>
      </p:sp>
      <p:sp>
        <p:nvSpPr>
          <p:cNvPr id="985" name="rc986"/>
          <p:cNvSpPr/>
          <p:nvPr/>
        </p:nvSpPr>
        <p:spPr>
          <a:xfrm>
            <a:off x="6812280" y="4334256"/>
            <a:ext cx="2050181" cy="274320"/>
          </a:xfrm>
          <a:prstGeom prst="rect">
            <a:avLst/>
          </a:prstGeom>
          <a:solidFill>
            <a:srgbClr val="4472C4"/>
          </a:solidFill>
          <a:ln>
            <a:noFill/>
          </a:ln>
        </p:spPr>
        <p:txBody>
          <a:bodyPr/>
          <a:lstStyle/>
          <a:p>
            <a:pPr algn="l" rtl="0">
              <a:buNone/>
            </a:pPr>
          </a:p>
        </p:txBody>
      </p:sp>
      <p:sp>
        <p:nvSpPr>
          <p:cNvPr id="987" name="tb988"/>
          <p:cNvSpPr txBox="1"/>
          <p:nvPr/>
        </p:nvSpPr>
        <p:spPr>
          <a:xfrm>
            <a:off x="8917325" y="4315968"/>
            <a:ext cx="914400" cy="292608"/>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250" b="1" i="0">
                <a:solidFill>
                  <a:srgbClr val="1F3864"/>
                </a:solidFill>
                <a:latin typeface="Montserrat"/>
                <a:ea typeface="Montserrat"/>
                <a:cs typeface="Montserrat"/>
                <a:sym typeface="Montserrat"/>
              </a:rPr>
              <a:t>213</a:t>
            </a:r>
          </a:p>
        </p:txBody>
      </p:sp>
      <p:sp>
        <p:nvSpPr>
          <p:cNvPr id="989" name="tb990"/>
          <p:cNvSpPr txBox="1"/>
          <p:nvPr/>
        </p:nvSpPr>
        <p:spPr>
          <a:xfrm>
            <a:off x="6812280" y="4791456"/>
            <a:ext cx="4599432" cy="256032"/>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100" b="0" i="0">
                <a:solidFill>
                  <a:srgbClr val="595959"/>
                </a:solidFill>
                <a:latin typeface="Roboto"/>
                <a:ea typeface="Roboto"/>
                <a:cs typeface="Roboto"/>
                <a:sym typeface="Roboto"/>
              </a:rPr>
              <a:t>Full request</a:t>
            </a:r>
          </a:p>
        </p:txBody>
      </p:sp>
      <p:sp>
        <p:nvSpPr>
          <p:cNvPr id="991" name="rc992"/>
          <p:cNvSpPr/>
          <p:nvPr/>
        </p:nvSpPr>
        <p:spPr>
          <a:xfrm>
            <a:off x="6812280" y="5065776"/>
            <a:ext cx="2050181" cy="274320"/>
          </a:xfrm>
          <a:prstGeom prst="rect">
            <a:avLst/>
          </a:prstGeom>
          <a:solidFill>
            <a:srgbClr val="4472C4"/>
          </a:solidFill>
          <a:ln>
            <a:noFill/>
          </a:ln>
        </p:spPr>
        <p:txBody>
          <a:bodyPr/>
          <a:lstStyle/>
          <a:p>
            <a:pPr algn="l" rtl="0">
              <a:buNone/>
            </a:pPr>
          </a:p>
        </p:txBody>
      </p:sp>
      <p:sp>
        <p:nvSpPr>
          <p:cNvPr id="993" name="rc994"/>
          <p:cNvSpPr/>
          <p:nvPr/>
        </p:nvSpPr>
        <p:spPr>
          <a:xfrm>
            <a:off x="8862461" y="5065776"/>
            <a:ext cx="2156058" cy="274320"/>
          </a:xfrm>
          <a:prstGeom prst="rect">
            <a:avLst/>
          </a:prstGeom>
          <a:solidFill>
            <a:srgbClr val="ED7D31"/>
          </a:solidFill>
          <a:ln>
            <a:noFill/>
          </a:ln>
        </p:spPr>
        <p:txBody>
          <a:bodyPr/>
          <a:lstStyle/>
          <a:p>
            <a:pPr algn="l" rtl="0">
              <a:buNone/>
            </a:pPr>
          </a:p>
        </p:txBody>
      </p:sp>
      <p:sp>
        <p:nvSpPr>
          <p:cNvPr id="995" name="tb996"/>
          <p:cNvSpPr txBox="1"/>
          <p:nvPr/>
        </p:nvSpPr>
        <p:spPr>
          <a:xfrm>
            <a:off x="11073384" y="5047488"/>
            <a:ext cx="914400" cy="292608"/>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250" b="1" i="0">
                <a:solidFill>
                  <a:srgbClr val="1F3864"/>
                </a:solidFill>
                <a:latin typeface="Montserrat"/>
                <a:ea typeface="Montserrat"/>
                <a:cs typeface="Montserrat"/>
                <a:sym typeface="Montserrat"/>
              </a:rPr>
              <a:t>437</a:t>
            </a:r>
          </a:p>
        </p:txBody>
      </p:sp>
      <p:sp>
        <p:nvSpPr>
          <p:cNvPr id="997" name="tb998"/>
          <p:cNvSpPr txBox="1"/>
          <p:nvPr/>
        </p:nvSpPr>
        <p:spPr>
          <a:xfrm>
            <a:off x="6812280" y="5541264"/>
            <a:ext cx="4599432" cy="292608"/>
          </a:xfrm>
          <a:prstGeom prst="rect">
            <a:avLst/>
          </a:prstGeom>
          <a:noFill/>
          <a:ln>
            <a:noFill/>
          </a:ln>
        </p:spPr>
        <p:txBody>
          <a:bodyPr spcFirstLastPara="1" wrap="square" lIns="0" tIns="0" rIns="0" bIns="0" anchor="t" anchorCtr="0">
            <a:noAutofit/>
          </a:bodyPr>
          <a:lstStyle/>
          <a:p>
            <a:pPr marL="0" indent="0" algn="l" rtl="0">
              <a:lnSpc>
                <a:spcPct val="100000"/>
              </a:lnSpc>
              <a:spcBef>
                <a:spcPts val="0"/>
              </a:spcBef>
              <a:spcAft>
                <a:spcPts val="0"/>
              </a:spcAft>
              <a:buNone/>
            </a:pPr>
            <a:r>
              <a:rPr lang="en-GB" sz="1000" b="0" i="1">
                <a:solidFill>
                  <a:srgbClr val="595959"/>
                </a:solidFill>
                <a:latin typeface="Roboto"/>
                <a:ea typeface="Roboto"/>
                <a:cs typeface="Roboto"/>
                <a:sym typeface="Roboto"/>
              </a:rPr>
              <a:t>blue = produced   ·   orange = still to be produced</a:t>
            </a:r>
          </a:p>
        </p:txBody>
      </p:sp>
      <p:sp>
        <p:nvSpPr>
          <p:cNvPr id="999" name="tb1000"/>
          <p:cNvSpPr txBox="1"/>
          <p:nvPr/>
        </p:nvSpPr>
        <p:spPr>
          <a:xfrm>
            <a:off x="777240" y="5925312"/>
            <a:ext cx="10634472" cy="777240"/>
          </a:xfrm>
          <a:prstGeom prst="rect">
            <a:avLst/>
          </a:prstGeom>
          <a:noFill/>
          <a:ln>
            <a:noFill/>
          </a:ln>
        </p:spPr>
        <p:txBody>
          <a:bodyPr spcFirstLastPara="1" wrap="square" lIns="0" tIns="0" rIns="0" bIns="0" anchor="t" anchorCtr="0">
            <a:noAutofit/>
          </a:bodyPr>
          <a:lstStyle/>
          <a:p>
            <a:pPr marL="0" indent="0" algn="l" rtl="0">
              <a:lnSpc>
                <a:spcPct val="110000"/>
              </a:lnSpc>
              <a:spcBef>
                <a:spcPts val="0"/>
              </a:spcBef>
              <a:spcAft>
                <a:spcPts val="100"/>
              </a:spcAft>
              <a:buNone/>
            </a:pPr>
            <a:r>
              <a:rPr lang="en-GB" sz="1000" b="0" i="0">
                <a:solidFill>
                  <a:srgbClr val="595959"/>
                </a:solidFill>
                <a:latin typeface="Roboto"/>
                <a:ea typeface="Roboto"/>
                <a:cs typeface="Roboto"/>
                <a:sym typeface="Roboto"/>
              </a:rPr>
              <a:t>Grid: CAM/CLM spectral element ncol 48600 × L58, NEMO 360×291 × L75, float32; calibrated on a real B1850 run and validated against its files (thetao monthly 377 MB/yr, zos 5 MB/yr). Archived, deflated size ≈ half.</a:t>
            </a:r>
          </a:p>
          <a:p>
            <a:pPr marL="0" indent="0" algn="l" rtl="0">
              <a:lnSpc>
                <a:spcPct val="110000"/>
              </a:lnSpc>
              <a:spcBef>
                <a:spcPts val="0"/>
              </a:spcBef>
              <a:spcAft>
                <a:spcPts val="100"/>
              </a:spcAft>
              <a:buNone/>
            </a:pPr>
            <a:r>
              <a:rPr lang="en-GB" sz="1000" b="0" i="0">
                <a:solidFill>
                  <a:srgbClr val="595959"/>
                </a:solidFill>
                <a:latin typeface="Roboto"/>
                <a:ea typeface="Roboto"/>
                <a:cs typeface="Roboto"/>
                <a:sym typeface="Roboto"/>
              </a:rPr>
              <a:t>Gaps are tracked as open rows in the per-component CMOR↔raw lookup tables (386 to resolve): fill the raw model name and the variable enters the production list automatically.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pic>
        <p:nvPicPr>
          <p:cNvPr id="294" name="Google Shape;294;p30" descr="Immagine che contiene Terra, pianeta, Spazio esterno, Oggetto astronomico  Descrizione generata automaticamente"/>
          <p:cNvPicPr preferRelativeResize="0"/>
          <p:nvPr/>
        </p:nvPicPr>
        <p:blipFill rotWithShape="1">
          <a:blip r:embed="rId3">
            <a:alphaModFix/>
          </a:blip>
          <a:srcRect/>
          <a:stretch/>
        </p:blipFill>
        <p:spPr>
          <a:xfrm>
            <a:off x="-1" y="12290"/>
            <a:ext cx="12213931" cy="6845710"/>
          </a:xfrm>
          <a:prstGeom prst="rect">
            <a:avLst/>
          </a:prstGeom>
          <a:noFill/>
          <a:ln>
            <a:noFill/>
          </a:ln>
        </p:spPr>
      </p:pic>
      <p:pic>
        <p:nvPicPr>
          <p:cNvPr id="295" name="Google Shape;295;p30"/>
          <p:cNvPicPr preferRelativeResize="0"/>
          <p:nvPr/>
        </p:nvPicPr>
        <p:blipFill rotWithShape="1">
          <a:blip r:embed="rId4">
            <a:alphaModFix/>
          </a:blip>
          <a:srcRect/>
          <a:stretch/>
        </p:blipFill>
        <p:spPr>
          <a:xfrm>
            <a:off x="2162966" y="464098"/>
            <a:ext cx="7389595" cy="5118584"/>
          </a:xfrm>
          <a:prstGeom prst="rect">
            <a:avLst/>
          </a:prstGeom>
          <a:noFill/>
          <a:ln>
            <a:noFill/>
          </a:ln>
        </p:spPr>
      </p:pic>
      <p:sp>
        <p:nvSpPr>
          <p:cNvPr id="296" name="Google Shape;296;p30"/>
          <p:cNvSpPr txBox="1"/>
          <p:nvPr/>
        </p:nvSpPr>
        <p:spPr>
          <a:xfrm>
            <a:off x="4551973" y="3505546"/>
            <a:ext cx="2611579" cy="400110"/>
          </a:xfrm>
          <a:prstGeom prst="rect">
            <a:avLst/>
          </a:prstGeom>
          <a:noFill/>
          <a:ln>
            <a:noFill/>
          </a:ln>
        </p:spPr>
        <p:txBody>
          <a:bodyPr spcFirstLastPara="1" wrap="square" lIns="91425" tIns="45700" rIns="91425" bIns="45700" anchor="t" anchorCtr="0">
            <a:spAutoFit/>
          </a:bodyPr>
          <a:lstStyle/>
          <a:p>
            <a:pPr marL="875664" marR="0" lvl="0" indent="0" algn="l" rtl="0">
              <a:lnSpc>
                <a:spcPct val="100000"/>
              </a:lnSpc>
              <a:spcBef>
                <a:spcPts val="0"/>
              </a:spcBef>
              <a:spcAft>
                <a:spcPts val="0"/>
              </a:spcAft>
              <a:buClr>
                <a:srgbClr val="000000"/>
              </a:buClr>
              <a:buSzPts val="2000"/>
              <a:buFont typeface="Arial"/>
              <a:buNone/>
            </a:pPr>
            <a:r>
              <a:rPr lang="it-IT" sz="2000" b="0" i="0" u="none" strike="noStrike" cap="none">
                <a:solidFill>
                  <a:srgbClr val="FFFFFF"/>
                </a:solidFill>
                <a:latin typeface="Roboto"/>
                <a:ea typeface="Roboto"/>
                <a:cs typeface="Roboto"/>
                <a:sym typeface="Roboto"/>
              </a:rPr>
              <a:t>www.cmcc.it</a:t>
            </a:r>
            <a:endParaRPr sz="2000" b="0" i="0" u="none" strike="noStrike" cap="none">
              <a:solidFill>
                <a:srgbClr val="000000"/>
              </a:solidFill>
              <a:latin typeface="Roboto"/>
              <a:ea typeface="Roboto"/>
              <a:cs typeface="Roboto"/>
              <a:sym typeface="Roboto"/>
            </a:endParaRPr>
          </a:p>
        </p:txBody>
      </p:sp>
      <p:pic>
        <p:nvPicPr>
          <p:cNvPr id="297" name="Google Shape;297;p30"/>
          <p:cNvPicPr preferRelativeResize="0"/>
          <p:nvPr/>
        </p:nvPicPr>
        <p:blipFill rotWithShape="1">
          <a:blip r:embed="rId5">
            <a:alphaModFix/>
          </a:blip>
          <a:srcRect/>
          <a:stretch/>
        </p:blipFill>
        <p:spPr>
          <a:xfrm>
            <a:off x="5481920" y="3997787"/>
            <a:ext cx="751684" cy="359677"/>
          </a:xfrm>
          <a:prstGeom prst="rect">
            <a:avLst/>
          </a:prstGeom>
          <a:noFill/>
          <a:ln>
            <a:noFill/>
          </a:ln>
        </p:spPr>
      </p:pic>
    </p:spTree>
  </p:cSld>
  <p:clrMapOvr>
    <a:masterClrMapping/>
  </p:clrMapOvr>
</p:sld>
</file>

<file path=ppt/theme/theme1.xml><?xml version="1.0" encoding="utf-8"?>
<a:theme xmlns:a="http://schemas.openxmlformats.org/drawingml/2006/main" name="Tema di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73</Words>
  <Application>Microsoft Macintosh PowerPoint</Application>
  <PresentationFormat>Widescreen</PresentationFormat>
  <Paragraphs>15</Paragraphs>
  <Slides>4</Slides>
  <Notes>4</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4</vt:i4>
      </vt:variant>
    </vt:vector>
  </HeadingPairs>
  <TitlesOfParts>
    <vt:vector size="9" baseType="lpstr">
      <vt:lpstr>Calibri</vt:lpstr>
      <vt:lpstr>Roboto</vt:lpstr>
      <vt:lpstr>Montserrat</vt:lpstr>
      <vt:lpstr>Arial</vt:lpstr>
      <vt:lpstr>Tema di Office</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Giovanni Conti</cp:lastModifiedBy>
  <cp:revision>1</cp:revision>
  <dcterms:modified xsi:type="dcterms:W3CDTF">2026-09-15T07:03:17Z</dcterms:modified>
</cp:coreProperties>
</file>