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ppt/slides/slide5.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6"/>
  </p:notesMasterIdLst>
  <p:sldIdLst>
    <p:sldId id="256" r:id="rId20"/>
    <p:sldId id="257" r:id="rId3"/>
    <p:sldId id="258" r:id="rId4"/>
  </p:sldIdLst>
  <p:sldSz cx="12192000" cy="6858000"/>
  <p:notesSz cx="6858000" cy="9144000"/>
  <p:embeddedFontLst>
    <p:embeddedFont>
      <p:font typeface="Montserrat" pitchFamily="2" charset="77"/>
      <p:regular r:id="rId7"/>
      <p:bold r:id="rId8"/>
      <p:italic r:id="rId9"/>
      <p:boldItalic r:id="rId10"/>
    </p:embeddedFont>
    <p:embeddedFont>
      <p:font typeface="Roboto" panose="02000000000000000000" pitchFamily="2"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162">
          <p15:clr>
            <a:srgbClr val="A4A3A4"/>
          </p15:clr>
        </p15:guide>
        <p15:guide id="2" pos="960">
          <p15:clr>
            <a:srgbClr val="A4A3A4"/>
          </p15:clr>
        </p15:guide>
        <p15:guide id="3" pos="4815">
          <p15:clr>
            <a:srgbClr val="A4A3A4"/>
          </p15:clr>
        </p15:guide>
        <p15:guide id="4" orient="horz" pos="3203">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as Lovato" initials="" lastIdx="5"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9"/>
  </p:normalViewPr>
  <p:slideViewPr>
    <p:cSldViewPr snapToGrid="0">
      <p:cViewPr varScale="1">
        <p:scale>
          <a:sx n="105" d="100"/>
          <a:sy n="105" d="100"/>
        </p:scale>
        <p:origin x="744" y="192"/>
      </p:cViewPr>
      <p:guideLst>
        <p:guide orient="horz" pos="1162"/>
        <p:guide pos="960"/>
        <p:guide pos="4815"/>
        <p:guide orient="horz" pos="3203"/>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viewProps" Target="viewProps.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15" Type="http://schemas.openxmlformats.org/officeDocument/2006/relationships/commentAuthors" Target="commentAuthors.xml"/><Relationship Id="rId10" Type="http://schemas.openxmlformats.org/officeDocument/2006/relationships/font" Target="fonts/font4.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  <Relationship Id="rId20" Type="http://schemas.openxmlformats.org/officeDocument/2006/relationships/slide" Target="slides/slide5.xml"/>
</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9-14T17:51:52.761" idx="4">
    <p:pos x="6000" y="0"/>
    <p:text>slides @giovanni.conti@cmcc.it
_Assigned to you_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fb51410e66_1_2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rtl="0">
              <a:buNone/>
            </a:pPr>
            <a:r>
              <a:rPr lang="en-GB" sz="1200"/>
              <a:t>Starting point is our internal selection of AR7 fast-track opportunities: 30 opportunities marked High or Medium by four Divisions, which expand to 117 variable-group references. We take every variable of every listed group - no per-variable filtering - and expand them against the official Data Request v1.2.2.4 with the data_request_api. Two release versions are involved: the selection was written against DR v1.2.2.2, we expand on v1.2.2.4, and two groups were renamed in between - omip_geometry_physics is now omip_scalars_high_priority, hydro_modelling_PET_daily is now WaterResourcesPET_daily - so they are re-pointed by name. Coverage is then checked group by group: of 118 parsed tokens, 115 match the DR directly, 2 are the renamed ones, 1 is a free-text fragment from the spreadsheet (the word 'not' in the Ocean Extremes cell) and is discarded, and none is left unresolved. Had one been unresolved the script exits non-zero, so the pipeline cannot silently produce a shorter list. That gives 853 requests, i.e. 660 distinct CMOR variables across frequencies. Against the CMCC-ESM3 output we then have 436 already producible, 67 derivable from fields we already store, and 350 new CMIP7 variables - requested but not produced today, concentrated in aerosol and atmospheric chemistry, land carbon and ocean biogeochemistry.</a:t>
            </a:r>
          </a:p>
        </p:txBody>
      </p:sp>
      <p:sp>
        <p:nvSpPr>
          <p:cNvPr id="242" name="Google Shape;242;g3fb51410e66_1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fb51410e66_1_2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rtl="0">
              <a:buNone/>
            </a:pPr>
            <a:r>
              <a:rPr lang="en-GB" sz="1200"/>
              <a:t>Volumes are per simulated model-year on the CMCC-ESM3 grid, uncompressed. We produce about 213 GB per model-year today, roughly twice a CMIP6 model-year; the full request would be 437 GB, about 4.4 times CMIP6. Derivable variables add nothing because they are slices of stored fields. Over the fast-track plan of roughly 2500 model-years that is about half a petabyte for what we produce today and just over one petabyte for the full request, halved again if the archive is deflated. The cost is extremely concentrated: 174 of the 224 GB of new variables is ocean 3-hourly, and two fields - ficeberg and hfrunoffds - are 76 % of it. So the decision to take is about ocean sub-daily 3-D output, not about 350 variables. The estimate is calibrated on a real B1850 run and validated against its files. The new variables are tracked as open rows in the lookup tables that map CMOR names to raw model fields.</a:t>
            </a:r>
          </a:p>
        </p:txBody>
      </p:sp>
      <p:sp>
        <p:nvSpPr>
          <p:cNvPr id="252" name="Google Shape;252;g3fb51410e66_1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3_One Section Slide">
  <p:cSld name="3_One Section Slide">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599016" y="575019"/>
            <a:ext cx="4876800" cy="1325563"/>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
        <p:nvSpPr>
          <p:cNvPr id="15" name="Google Shape;15;p2"/>
          <p:cNvSpPr>
            <a:spLocks noGrp="1"/>
          </p:cNvSpPr>
          <p:nvPr>
            <p:ph type="pic" idx="2"/>
          </p:nvPr>
        </p:nvSpPr>
        <p:spPr>
          <a:xfrm>
            <a:off x="5783793" y="0"/>
            <a:ext cx="5798607" cy="6858000"/>
          </a:xfrm>
          <a:prstGeom prst="rect">
            <a:avLst/>
          </a:prstGeom>
          <a:noFill/>
          <a:ln>
            <a:noFill/>
          </a:ln>
        </p:spPr>
        <p:txBody>
          <a:bodyPr/>
          <a:lstStyle/>
          <a:p>
            <a:endParaRPr lang="it-IT"/>
          </a:p>
        </p:txBody>
      </p:sp>
      <p:sp>
        <p:nvSpPr>
          <p:cNvPr id="16" name="Google Shape;16;p2"/>
          <p:cNvSpPr txBox="1">
            <a:spLocks noGrp="1"/>
          </p:cNvSpPr>
          <p:nvPr>
            <p:ph type="body" idx="1"/>
          </p:nvPr>
        </p:nvSpPr>
        <p:spPr>
          <a:xfrm>
            <a:off x="594733" y="3072977"/>
            <a:ext cx="4631139" cy="3196800"/>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400"/>
              </a:spcBef>
              <a:spcAft>
                <a:spcPts val="0"/>
              </a:spcAft>
              <a:buSzPts val="2800"/>
              <a:buChar char="•"/>
              <a:defRPr/>
            </a:lvl1pPr>
            <a:lvl2pPr marL="914400" lvl="1" indent="-381000" algn="l">
              <a:lnSpc>
                <a:spcPct val="90000"/>
              </a:lnSpc>
              <a:spcBef>
                <a:spcPts val="400"/>
              </a:spcBef>
              <a:spcAft>
                <a:spcPts val="0"/>
              </a:spcAft>
              <a:buSzPts val="2400"/>
              <a:buChar char="•"/>
              <a:defRPr/>
            </a:lvl2pPr>
            <a:lvl3pPr marL="1371600" lvl="2" indent="-355600" algn="l">
              <a:lnSpc>
                <a:spcPct val="90000"/>
              </a:lnSpc>
              <a:spcBef>
                <a:spcPts val="400"/>
              </a:spcBef>
              <a:spcAft>
                <a:spcPts val="0"/>
              </a:spcAft>
              <a:buSzPts val="20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7" name="Google Shape;17;p2"/>
          <p:cNvSpPr txBox="1">
            <a:spLocks noGrp="1"/>
          </p:cNvSpPr>
          <p:nvPr>
            <p:ph type="body" idx="3"/>
          </p:nvPr>
        </p:nvSpPr>
        <p:spPr>
          <a:xfrm>
            <a:off x="594733" y="2656167"/>
            <a:ext cx="4634868" cy="369600"/>
          </a:xfrm>
          <a:prstGeom prst="rect">
            <a:avLst/>
          </a:prstGeom>
          <a:noFill/>
          <a:ln>
            <a:noFill/>
          </a:ln>
        </p:spPr>
        <p:txBody>
          <a:bodyPr spcFirstLastPara="1" wrap="square" lIns="91425" tIns="45700" rIns="91425" bIns="45700" anchor="b" anchorCtr="0">
            <a:noAutofit/>
          </a:bodyPr>
          <a:lstStyle>
            <a:lvl1pPr marL="457200" lvl="0" indent="-406400" algn="l">
              <a:lnSpc>
                <a:spcPct val="90000"/>
              </a:lnSpc>
              <a:spcBef>
                <a:spcPts val="1000"/>
              </a:spcBef>
              <a:spcAft>
                <a:spcPts val="0"/>
              </a:spcAft>
              <a:buSzPts val="2800"/>
              <a:buChar char="•"/>
              <a:defRPr sz="1250" b="1"/>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titolo">
  <p:cSld name="Diapositiva titolo">
    <p:spTree>
      <p:nvGrpSpPr>
        <p:cNvPr id="1" name="Shape 18"/>
        <p:cNvGrpSpPr/>
        <p:nvPr/>
      </p:nvGrpSpPr>
      <p:grpSpPr>
        <a:xfrm>
          <a:off x="0" y="0"/>
          <a:ext cx="0" cy="0"/>
          <a:chOff x="0" y="0"/>
          <a:chExt cx="0" cy="0"/>
        </a:xfrm>
      </p:grpSpPr>
      <p:sp>
        <p:nvSpPr>
          <p:cNvPr id="19" name="Google Shape;19;p3"/>
          <p:cNvSpPr txBox="1">
            <a:spLocks noGrp="1"/>
          </p:cNvSpPr>
          <p:nvPr>
            <p:ph type="ctrTitle"/>
          </p:nvPr>
        </p:nvSpPr>
        <p:spPr>
          <a:xfrm>
            <a:off x="94210" y="174567"/>
            <a:ext cx="11809616" cy="536936"/>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400"/>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11409045" y="6333134"/>
            <a:ext cx="731700" cy="5250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One Section Slide">
  <p:cSld name="2_One Section Slide">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599016" y="575019"/>
            <a:ext cx="4876800" cy="1325563"/>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
        <p:nvSpPr>
          <p:cNvPr id="25" name="Google Shape;25;p4"/>
          <p:cNvSpPr>
            <a:spLocks noGrp="1"/>
          </p:cNvSpPr>
          <p:nvPr>
            <p:ph type="pic" idx="2"/>
          </p:nvPr>
        </p:nvSpPr>
        <p:spPr>
          <a:xfrm>
            <a:off x="5783793" y="0"/>
            <a:ext cx="5798607" cy="6858000"/>
          </a:xfrm>
          <a:prstGeom prst="rect">
            <a:avLst/>
          </a:prstGeom>
          <a:noFill/>
          <a:ln>
            <a:noFill/>
          </a:ln>
        </p:spPr>
        <p:txBody>
          <a:bodyPr/>
          <a:lstStyle/>
          <a:p>
            <a:endParaRPr lang="it-IT"/>
          </a:p>
        </p:txBody>
      </p:sp>
      <p:sp>
        <p:nvSpPr>
          <p:cNvPr id="26" name="Google Shape;26;p4"/>
          <p:cNvSpPr txBox="1">
            <a:spLocks noGrp="1"/>
          </p:cNvSpPr>
          <p:nvPr>
            <p:ph type="body" idx="1"/>
          </p:nvPr>
        </p:nvSpPr>
        <p:spPr>
          <a:xfrm>
            <a:off x="594733" y="3072977"/>
            <a:ext cx="4631139" cy="3196800"/>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400"/>
              </a:spcBef>
              <a:spcAft>
                <a:spcPts val="0"/>
              </a:spcAft>
              <a:buSzPts val="2800"/>
              <a:buChar char="•"/>
              <a:defRPr/>
            </a:lvl1pPr>
            <a:lvl2pPr marL="914400" lvl="1" indent="-381000" algn="l">
              <a:lnSpc>
                <a:spcPct val="90000"/>
              </a:lnSpc>
              <a:spcBef>
                <a:spcPts val="400"/>
              </a:spcBef>
              <a:spcAft>
                <a:spcPts val="0"/>
              </a:spcAft>
              <a:buSzPts val="2400"/>
              <a:buChar char="•"/>
              <a:defRPr/>
            </a:lvl2pPr>
            <a:lvl3pPr marL="1371600" lvl="2" indent="-355600" algn="l">
              <a:lnSpc>
                <a:spcPct val="90000"/>
              </a:lnSpc>
              <a:spcBef>
                <a:spcPts val="400"/>
              </a:spcBef>
              <a:spcAft>
                <a:spcPts val="0"/>
              </a:spcAft>
              <a:buSzPts val="20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27" name="Google Shape;27;p4"/>
          <p:cNvSpPr txBox="1">
            <a:spLocks noGrp="1"/>
          </p:cNvSpPr>
          <p:nvPr>
            <p:ph type="body" idx="3"/>
          </p:nvPr>
        </p:nvSpPr>
        <p:spPr>
          <a:xfrm>
            <a:off x="594733" y="2656167"/>
            <a:ext cx="4634868" cy="369600"/>
          </a:xfrm>
          <a:prstGeom prst="rect">
            <a:avLst/>
          </a:prstGeom>
          <a:noFill/>
          <a:ln>
            <a:noFill/>
          </a:ln>
        </p:spPr>
        <p:txBody>
          <a:bodyPr spcFirstLastPara="1" wrap="square" lIns="91425" tIns="45700" rIns="91425" bIns="45700" anchor="b" anchorCtr="0">
            <a:noAutofit/>
          </a:bodyPr>
          <a:lstStyle>
            <a:lvl1pPr marL="457200" lvl="0" indent="-406400" algn="l">
              <a:lnSpc>
                <a:spcPct val="90000"/>
              </a:lnSpc>
              <a:spcBef>
                <a:spcPts val="1000"/>
              </a:spcBef>
              <a:spcAft>
                <a:spcPts val="0"/>
              </a:spcAft>
              <a:buSzPts val="2800"/>
              <a:buChar char="•"/>
              <a:defRPr sz="1250" b="1"/>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testazione sezione" type="secHead">
  <p:cSld name="SECTION_HEADER">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ue contenuti" type="twoObj">
  <p:cSld name="TWO_OBJECTS">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fronto" type="twoTxTwoObj">
  <p:cSld name="TWO_OBJECTS_WITH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uto con didascalia" type="objTx">
  <p:cSld name="OBJECT_WITH_CAPTION_TEXT">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3" name="Google Shape;53;p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4" name="Google Shape;5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magine con didascalia" type="picTx">
  <p:cSld name="PICTURE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a:spLocks noGrp="1"/>
          </p:cNvSpPr>
          <p:nvPr>
            <p:ph type="pic" idx="2"/>
          </p:nvPr>
        </p:nvSpPr>
        <p:spPr>
          <a:xfrm>
            <a:off x="5183188" y="987425"/>
            <a:ext cx="6172200" cy="4873625"/>
          </a:xfrm>
          <a:prstGeom prst="rect">
            <a:avLst/>
          </a:prstGeom>
          <a:noFill/>
          <a:ln>
            <a:noFill/>
          </a:ln>
        </p:spPr>
      </p:sp>
      <p:sp>
        <p:nvSpPr>
          <p:cNvPr id="60" name="Google Shape;60;p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olo e testo verticale" type="vertTx">
  <p:cSld name="VERTICAL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itolo e testo verticale" type="vertTitleAndTx">
  <p:cSld name="VERTICAL_TITLE_AND_VERTICAL_TEXT">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25"/>
          <p:cNvPicPr preferRelativeResize="0"/>
          <p:nvPr/>
        </p:nvPicPr>
        <p:blipFill rotWithShape="1">
          <a:blip r:embed="rId3">
            <a:alphaModFix/>
          </a:blip>
          <a:srcRect/>
          <a:stretch/>
        </p:blipFill>
        <p:spPr>
          <a:xfrm>
            <a:off x="-11274" y="0"/>
            <a:ext cx="12203273" cy="1025480"/>
          </a:xfrm>
          <a:prstGeom prst="rect">
            <a:avLst/>
          </a:prstGeom>
          <a:noFill/>
          <a:ln>
            <a:noFill/>
          </a:ln>
        </p:spPr>
      </p:pic>
      <p:sp>
        <p:nvSpPr>
          <p:cNvPr id="245" name="Google Shape;245;p25"/>
          <p:cNvSpPr txBox="1"/>
          <p:nvPr/>
        </p:nvSpPr>
        <p:spPr>
          <a:xfrm>
            <a:off x="672531" y="361025"/>
            <a:ext cx="8743800" cy="5220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400"/>
              <a:buFont typeface="Calibri"/>
              <a:buNone/>
            </a:pPr>
            <a:r>
              <a:rPr lang="it-IT" sz="3200" b="1">
                <a:solidFill>
                  <a:schemeClr val="lt1"/>
                </a:solidFill>
                <a:latin typeface="Montserrat"/>
                <a:ea typeface="Montserrat"/>
                <a:cs typeface="Montserrat"/>
                <a:sym typeface="Montserrat"/>
              </a:rPr>
              <a:t>CMCC AR7-FT Data Request (2)</a:t>
            </a:r>
            <a:endParaRPr sz="3200" b="0" i="0" u="none" strike="noStrike" cap="none">
              <a:solidFill>
                <a:schemeClr val="lt1"/>
              </a:solidFill>
              <a:latin typeface="Arial"/>
              <a:ea typeface="Arial"/>
              <a:cs typeface="Arial"/>
              <a:sym typeface="Arial"/>
            </a:endParaRPr>
          </a:p>
        </p:txBody>
      </p:sp>
      <p:sp>
        <p:nvSpPr>
          <p:cNvPr id="246" name="Google Shape;246;p25"/>
          <p:cNvSpPr/>
          <p:nvPr/>
        </p:nvSpPr>
        <p:spPr>
          <a:xfrm>
            <a:off x="-151579" y="1019517"/>
            <a:ext cx="12483900" cy="456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B0F0"/>
              </a:solidFill>
              <a:latin typeface="Arial"/>
              <a:ea typeface="Arial"/>
              <a:cs typeface="Arial"/>
              <a:sym typeface="Arial"/>
            </a:endParaRPr>
          </a:p>
        </p:txBody>
      </p:sp>
      <p:sp>
        <p:nvSpPr>
          <p:cNvPr id="247" name="Google Shape;247;p25"/>
          <p:cNvSpPr/>
          <p:nvPr/>
        </p:nvSpPr>
        <p:spPr>
          <a:xfrm>
            <a:off x="-11274" y="6786545"/>
            <a:ext cx="12203400" cy="891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248" name="Google Shape;248;p25" descr="Immagine che contiene Carattere, Elementi grafici, logo, simbolo  Descrizione generata automaticamente"/>
          <p:cNvPicPr preferRelativeResize="0"/>
          <p:nvPr/>
        </p:nvPicPr>
        <p:blipFill rotWithShape="1">
          <a:blip r:embed="rId4">
            <a:alphaModFix/>
          </a:blip>
          <a:srcRect/>
          <a:stretch/>
        </p:blipFill>
        <p:spPr>
          <a:xfrm>
            <a:off x="9727799" y="207657"/>
            <a:ext cx="1978358" cy="675420"/>
          </a:xfrm>
          <a:prstGeom prst="rect">
            <a:avLst/>
          </a:prstGeom>
          <a:noFill/>
          <a:ln>
            <a:noFill/>
          </a:ln>
        </p:spPr>
      </p:pic>
      <p:sp>
        <p:nvSpPr>
          <p:cNvPr id="929" name="tb930"/>
          <p:cNvSpPr txBox="1"/>
          <p:nvPr/>
        </p:nvSpPr>
        <p:spPr>
          <a:xfrm>
            <a:off x="777240" y="1133856"/>
            <a:ext cx="10634472" cy="310896"/>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250" b="0" i="1">
                <a:solidFill>
                  <a:srgbClr val="595959"/>
                </a:solidFill>
                <a:latin typeface="Roboto"/>
                <a:ea typeface="Roboto"/>
                <a:cs typeface="Roboto"/>
                <a:sym typeface="Roboto"/>
              </a:rPr>
              <a:t>Internal CMCC selection expanded against the official CMIP7 Data Request (v1.2.2.4) and cross-checked against CMCC-ESM3 output</a:t>
            </a:r>
          </a:p>
        </p:txBody>
      </p:sp>
      <p:sp>
        <p:nvSpPr>
          <p:cNvPr id="931" name="rc932"/>
          <p:cNvSpPr/>
          <p:nvPr/>
        </p:nvSpPr>
        <p:spPr>
          <a:xfrm>
            <a:off x="777240" y="1517904"/>
            <a:ext cx="3392424" cy="1097280"/>
          </a:xfrm>
          <a:prstGeom prst="roundRect">
            <a:avLst>
              <a:gd name="adj" fmla="val 6666"/>
            </a:avLst>
          </a:prstGeom>
          <a:solidFill>
            <a:srgbClr val="F1F4F9"/>
          </a:solidFill>
          <a:ln>
            <a:noFill/>
          </a:ln>
        </p:spPr>
        <p:txBody>
          <a:bodyPr/>
          <a:lstStyle/>
          <a:p>
            <a:pPr algn="l" rtl="0">
              <a:buNone/>
            </a:pPr>
          </a:p>
        </p:txBody>
      </p:sp>
      <p:sp>
        <p:nvSpPr>
          <p:cNvPr id="933" name="tb934"/>
          <p:cNvSpPr txBox="1"/>
          <p:nvPr/>
        </p:nvSpPr>
        <p:spPr>
          <a:xfrm>
            <a:off x="832103" y="1572768"/>
            <a:ext cx="3282696" cy="1005840"/>
          </a:xfrm>
          <a:prstGeom prst="rect">
            <a:avLst/>
          </a:prstGeom>
          <a:noFill/>
          <a:ln>
            <a:noFill/>
          </a:ln>
        </p:spPr>
        <p:txBody>
          <a:bodyPr spcFirstLastPara="1" wrap="square" lIns="109728" tIns="109728" rIns="109728" bIns="109728" anchor="t" anchorCtr="0">
            <a:noAutofit/>
          </a:bodyPr>
          <a:lstStyle/>
          <a:p>
            <a:pPr marL="0" indent="0" algn="l" rtl="0">
              <a:lnSpc>
                <a:spcPct val="95000"/>
              </a:lnSpc>
              <a:spcBef>
                <a:spcPts val="0"/>
              </a:spcBef>
              <a:spcAft>
                <a:spcPts val="200"/>
              </a:spcAft>
              <a:buNone/>
            </a:pPr>
            <a:r>
              <a:rPr lang="en-GB" sz="3200" b="1" i="0">
                <a:solidFill>
                  <a:srgbClr val="1F3864"/>
                </a:solidFill>
                <a:latin typeface="Montserrat"/>
                <a:ea typeface="Montserrat"/>
                <a:cs typeface="Montserrat"/>
                <a:sym typeface="Montserrat"/>
              </a:rPr>
              <a:t>30</a:t>
            </a:r>
          </a:p>
          <a:p>
            <a:pPr marL="0" indent="0" algn="l" rtl="0">
              <a:lnSpc>
                <a:spcPct val="105000"/>
              </a:lnSpc>
              <a:spcBef>
                <a:spcPts val="0"/>
              </a:spcBef>
              <a:spcAft>
                <a:spcPts val="0"/>
              </a:spcAft>
              <a:buNone/>
            </a:pPr>
            <a:r>
              <a:rPr lang="en-GB" sz="1100" b="0" i="0">
                <a:solidFill>
                  <a:srgbClr val="595959"/>
                </a:solidFill>
                <a:latin typeface="Roboto"/>
                <a:ea typeface="Roboto"/>
                <a:cs typeface="Roboto"/>
                <a:sym typeface="Roboto"/>
              </a:rPr>
              <a:t>opportunities selected — 21 High, 9 Medium — across 4 CMCC Divisions</a:t>
            </a:r>
          </a:p>
        </p:txBody>
      </p:sp>
      <p:sp>
        <p:nvSpPr>
          <p:cNvPr id="935" name="rc936"/>
          <p:cNvSpPr/>
          <p:nvPr/>
        </p:nvSpPr>
        <p:spPr>
          <a:xfrm>
            <a:off x="4398264" y="1517904"/>
            <a:ext cx="3392424" cy="1097280"/>
          </a:xfrm>
          <a:prstGeom prst="roundRect">
            <a:avLst>
              <a:gd name="adj" fmla="val 6666"/>
            </a:avLst>
          </a:prstGeom>
          <a:solidFill>
            <a:srgbClr val="F1F4F9"/>
          </a:solidFill>
          <a:ln>
            <a:noFill/>
          </a:ln>
        </p:spPr>
        <p:txBody>
          <a:bodyPr/>
          <a:lstStyle/>
          <a:p>
            <a:pPr algn="l" rtl="0">
              <a:buNone/>
            </a:pPr>
          </a:p>
        </p:txBody>
      </p:sp>
      <p:sp>
        <p:nvSpPr>
          <p:cNvPr id="937" name="tb938"/>
          <p:cNvSpPr txBox="1"/>
          <p:nvPr/>
        </p:nvSpPr>
        <p:spPr>
          <a:xfrm>
            <a:off x="4453127" y="1572768"/>
            <a:ext cx="3282696" cy="1005840"/>
          </a:xfrm>
          <a:prstGeom prst="rect">
            <a:avLst/>
          </a:prstGeom>
          <a:noFill/>
          <a:ln>
            <a:noFill/>
          </a:ln>
        </p:spPr>
        <p:txBody>
          <a:bodyPr spcFirstLastPara="1" wrap="square" lIns="109728" tIns="109728" rIns="109728" bIns="109728" anchor="t" anchorCtr="0">
            <a:noAutofit/>
          </a:bodyPr>
          <a:lstStyle/>
          <a:p>
            <a:pPr marL="0" indent="0" algn="l" rtl="0">
              <a:lnSpc>
                <a:spcPct val="95000"/>
              </a:lnSpc>
              <a:spcBef>
                <a:spcPts val="0"/>
              </a:spcBef>
              <a:spcAft>
                <a:spcPts val="200"/>
              </a:spcAft>
              <a:buNone/>
            </a:pPr>
            <a:r>
              <a:rPr lang="en-GB" sz="3200" b="1" i="0">
                <a:solidFill>
                  <a:srgbClr val="1F3864"/>
                </a:solidFill>
                <a:latin typeface="Montserrat"/>
                <a:ea typeface="Montserrat"/>
                <a:cs typeface="Montserrat"/>
                <a:sym typeface="Montserrat"/>
              </a:rPr>
              <a:t>117</a:t>
            </a:r>
          </a:p>
          <a:p>
            <a:pPr marL="0" indent="0" algn="l" rtl="0">
              <a:lnSpc>
                <a:spcPct val="105000"/>
              </a:lnSpc>
              <a:spcBef>
                <a:spcPts val="0"/>
              </a:spcBef>
              <a:spcAft>
                <a:spcPts val="0"/>
              </a:spcAft>
              <a:buNone/>
            </a:pPr>
            <a:r>
              <a:rPr lang="en-GB" sz="1100" b="0" i="0">
                <a:solidFill>
                  <a:srgbClr val="595959"/>
                </a:solidFill>
                <a:latin typeface="Roboto"/>
                <a:ea typeface="Roboto"/>
                <a:cs typeface="Roboto"/>
                <a:sym typeface="Roboto"/>
              </a:rPr>
              <a:t>variable-group references, every one expanded in full</a:t>
            </a:r>
          </a:p>
        </p:txBody>
      </p:sp>
      <p:sp>
        <p:nvSpPr>
          <p:cNvPr id="939" name="rc940"/>
          <p:cNvSpPr/>
          <p:nvPr/>
        </p:nvSpPr>
        <p:spPr>
          <a:xfrm>
            <a:off x="8019288" y="1517904"/>
            <a:ext cx="3392424" cy="1097280"/>
          </a:xfrm>
          <a:prstGeom prst="roundRect">
            <a:avLst>
              <a:gd name="adj" fmla="val 6666"/>
            </a:avLst>
          </a:prstGeom>
          <a:solidFill>
            <a:srgbClr val="F1F4F9"/>
          </a:solidFill>
          <a:ln>
            <a:noFill/>
          </a:ln>
        </p:spPr>
        <p:txBody>
          <a:bodyPr/>
          <a:lstStyle/>
          <a:p>
            <a:pPr algn="l" rtl="0">
              <a:buNone/>
            </a:pPr>
          </a:p>
        </p:txBody>
      </p:sp>
      <p:sp>
        <p:nvSpPr>
          <p:cNvPr id="941" name="tb942"/>
          <p:cNvSpPr txBox="1"/>
          <p:nvPr/>
        </p:nvSpPr>
        <p:spPr>
          <a:xfrm>
            <a:off x="8074152" y="1572768"/>
            <a:ext cx="3282696" cy="1005840"/>
          </a:xfrm>
          <a:prstGeom prst="rect">
            <a:avLst/>
          </a:prstGeom>
          <a:noFill/>
          <a:ln>
            <a:noFill/>
          </a:ln>
        </p:spPr>
        <p:txBody>
          <a:bodyPr spcFirstLastPara="1" wrap="square" lIns="109728" tIns="109728" rIns="109728" bIns="109728" anchor="t" anchorCtr="0">
            <a:noAutofit/>
          </a:bodyPr>
          <a:lstStyle/>
          <a:p>
            <a:pPr marL="0" indent="0" algn="l" rtl="0">
              <a:lnSpc>
                <a:spcPct val="95000"/>
              </a:lnSpc>
              <a:spcBef>
                <a:spcPts val="0"/>
              </a:spcBef>
              <a:spcAft>
                <a:spcPts val="200"/>
              </a:spcAft>
              <a:buNone/>
            </a:pPr>
            <a:r>
              <a:rPr lang="en-GB" sz="3200" b="1" i="0">
                <a:solidFill>
                  <a:srgbClr val="1F3864"/>
                </a:solidFill>
                <a:latin typeface="Montserrat"/>
                <a:ea typeface="Montserrat"/>
                <a:cs typeface="Montserrat"/>
                <a:sym typeface="Montserrat"/>
              </a:rPr>
              <a:t>853</a:t>
            </a:r>
          </a:p>
          <a:p>
            <a:pPr marL="0" indent="0" algn="l" rtl="0">
              <a:lnSpc>
                <a:spcPct val="105000"/>
              </a:lnSpc>
              <a:spcBef>
                <a:spcPts val="0"/>
              </a:spcBef>
              <a:spcAft>
                <a:spcPts val="0"/>
              </a:spcAft>
              <a:buNone/>
            </a:pPr>
            <a:r>
              <a:rPr lang="en-GB" sz="1100" b="0" i="0">
                <a:solidFill>
                  <a:srgbClr val="595959"/>
                </a:solidFill>
                <a:latin typeface="Roboto"/>
                <a:ea typeface="Roboto"/>
                <a:cs typeface="Roboto"/>
                <a:sym typeface="Roboto"/>
              </a:rPr>
              <a:t>requested variables — 660 distinct CMOR names across frequencies</a:t>
            </a:r>
          </a:p>
        </p:txBody>
      </p:sp>
      <p:sp>
        <p:nvSpPr>
          <p:cNvPr id="943" name="tb944"/>
          <p:cNvSpPr txBox="1"/>
          <p:nvPr/>
        </p:nvSpPr>
        <p:spPr>
          <a:xfrm>
            <a:off x="777240" y="2889504"/>
            <a:ext cx="5074920" cy="329184"/>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600" b="1" i="0">
                <a:solidFill>
                  <a:srgbClr val="1F3864"/>
                </a:solidFill>
                <a:latin typeface="Montserrat"/>
                <a:ea typeface="Montserrat"/>
                <a:cs typeface="Montserrat"/>
                <a:sym typeface="Montserrat"/>
              </a:rPr>
              <a:t>Selection criteria</a:t>
            </a:r>
          </a:p>
        </p:txBody>
      </p:sp>
      <p:sp>
        <p:nvSpPr>
          <p:cNvPr id="945" name="tb946"/>
          <p:cNvSpPr txBox="1"/>
          <p:nvPr/>
        </p:nvSpPr>
        <p:spPr>
          <a:xfrm>
            <a:off x="777240" y="3273552"/>
            <a:ext cx="5074920" cy="2240280"/>
          </a:xfrm>
          <a:prstGeom prst="rect">
            <a:avLst/>
          </a:prstGeom>
          <a:noFill/>
          <a:ln>
            <a:noFill/>
          </a:ln>
        </p:spPr>
        <p:txBody>
          <a:bodyPr spcFirstLastPara="1" wrap="square" lIns="0" tIns="0" rIns="0" bIns="0" anchor="t" anchorCtr="0">
            <a:noAutofit/>
          </a:bodyPr>
          <a:lstStyle/>
          <a:p>
            <a:pPr marL="190500" indent="-190500" algn="l" rtl="0">
              <a:lnSpc>
                <a:spcPct val="104000"/>
              </a:lnSpc>
              <a:spcBef>
                <a:spcPts val="0"/>
              </a:spcBef>
              <a:spcAft>
                <a:spcPts val="500"/>
              </a:spcAft>
              <a:buClr>
                <a:srgbClr val="4472C4"/>
              </a:buClr>
              <a:buFont typeface="Arial"/>
              <a:buChar char="•"/>
            </a:pPr>
            <a:r>
              <a:rPr lang="en-GB" sz="1300" b="0" i="0">
                <a:solidFill>
                  <a:srgbClr val="000000"/>
                </a:solidFill>
                <a:latin typeface="Roboto"/>
                <a:ea typeface="Roboto"/>
                <a:cs typeface="Roboto"/>
                <a:sym typeface="Roboto"/>
              </a:rPr>
              <a:t>CMCC per-opportunity priority: High + Medium; every variable of every listed group, no per-variable DR priority filter</a:t>
            </a:r>
          </a:p>
          <a:p>
            <a:pPr marL="190500" indent="-190500" algn="l" rtl="0">
              <a:lnSpc>
                <a:spcPct val="104000"/>
              </a:lnSpc>
              <a:spcBef>
                <a:spcPts val="0"/>
              </a:spcBef>
              <a:spcAft>
                <a:spcPts val="500"/>
              </a:spcAft>
              <a:buClr>
                <a:srgbClr val="4472C4"/>
              </a:buClr>
              <a:buFont typeface="Arial"/>
              <a:buChar char="•"/>
            </a:pPr>
            <a:r>
              <a:rPr lang="en-GB" sz="1300" b="0" i="0">
                <a:solidFill>
                  <a:srgbClr val="000000"/>
                </a:solidFill>
                <a:latin typeface="Roboto"/>
                <a:ea typeface="Roboto"/>
                <a:cs typeface="Roboto"/>
                <a:sym typeface="Roboto"/>
              </a:rPr>
              <a:t>Selection made on DR v1.2.2.2, expanded on v1.2.2.4 with data_request_api — 2 groups renamed in between, re-pointed by name</a:t>
            </a:r>
          </a:p>
          <a:p>
            <a:pPr marL="190500" indent="-190500" algn="l" rtl="0">
              <a:lnSpc>
                <a:spcPct val="104000"/>
              </a:lnSpc>
              <a:spcBef>
                <a:spcPts val="0"/>
              </a:spcBef>
              <a:spcAft>
                <a:spcPts val="500"/>
              </a:spcAft>
              <a:buClr>
                <a:srgbClr val="4472C4"/>
              </a:buClr>
              <a:buFont typeface="Arial"/>
              <a:buChar char="•"/>
            </a:pPr>
            <a:r>
              <a:rPr lang="en-GB" sz="1300" b="0" i="0">
                <a:solidFill>
                  <a:srgbClr val="000000"/>
                </a:solidFill>
                <a:latin typeface="Roboto"/>
                <a:ea typeface="Roboto"/>
                <a:cs typeface="Roboto"/>
                <a:sym typeface="Roboto"/>
              </a:rPr>
              <a:t>All 117 requested groups located in the DR (115 directly, 2 renamed); the build aborts rather than drop a request</a:t>
            </a:r>
          </a:p>
        </p:txBody>
      </p:sp>
      <p:sp>
        <p:nvSpPr>
          <p:cNvPr id="947" name="tb948"/>
          <p:cNvSpPr txBox="1"/>
          <p:nvPr/>
        </p:nvSpPr>
        <p:spPr>
          <a:xfrm>
            <a:off x="777240" y="5102352"/>
            <a:ext cx="5074920" cy="310896"/>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300" b="1" i="0">
                <a:solidFill>
                  <a:srgbClr val="1F3864"/>
                </a:solidFill>
                <a:latin typeface="Montserrat"/>
                <a:ea typeface="Montserrat"/>
                <a:cs typeface="Montserrat"/>
                <a:sym typeface="Montserrat"/>
              </a:rPr>
              <a:t>What comes out</a:t>
            </a:r>
          </a:p>
        </p:txBody>
      </p:sp>
      <p:sp>
        <p:nvSpPr>
          <p:cNvPr id="949" name="tb950"/>
          <p:cNvSpPr txBox="1"/>
          <p:nvPr/>
        </p:nvSpPr>
        <p:spPr>
          <a:xfrm>
            <a:off x="777240" y="5413248"/>
            <a:ext cx="5074920" cy="566928"/>
          </a:xfrm>
          <a:prstGeom prst="rect">
            <a:avLst/>
          </a:prstGeom>
          <a:noFill/>
          <a:ln>
            <a:noFill/>
          </a:ln>
        </p:spPr>
        <p:txBody>
          <a:bodyPr spcFirstLastPara="1" wrap="square" lIns="0" tIns="0" rIns="0" bIns="0" anchor="t" anchorCtr="0">
            <a:noAutofit/>
          </a:bodyPr>
          <a:lstStyle/>
          <a:p>
            <a:pPr marL="190500" indent="-190500" algn="l" rtl="0">
              <a:lnSpc>
                <a:spcPct val="104000"/>
              </a:lnSpc>
              <a:spcBef>
                <a:spcPts val="0"/>
              </a:spcBef>
              <a:spcAft>
                <a:spcPts val="500"/>
              </a:spcAft>
              <a:buClr>
                <a:srgbClr val="4472C4"/>
              </a:buClr>
              <a:buFont typeface="Arial"/>
              <a:buChar char="•"/>
            </a:pPr>
            <a:r>
              <a:rPr lang="en-GB" sz="1150" b="0" i="0">
                <a:solidFill>
                  <a:srgbClr val="000000"/>
                </a:solidFill>
                <a:latin typeface="Roboto"/>
                <a:ea typeface="Roboto"/>
                <a:cs typeface="Roboto"/>
                <a:sym typeface="Roboto"/>
              </a:rPr>
              <a:t>Production tables: frequency | ave/inst | raw model variables</a:t>
            </a:r>
          </a:p>
          <a:p>
            <a:pPr marL="190500" indent="-190500" algn="l" rtl="0">
              <a:lnSpc>
                <a:spcPct val="104000"/>
              </a:lnSpc>
              <a:spcBef>
                <a:spcPts val="0"/>
              </a:spcBef>
              <a:spcAft>
                <a:spcPts val="500"/>
              </a:spcAft>
              <a:buClr>
                <a:srgbClr val="4472C4"/>
              </a:buClr>
              <a:buFont typeface="Arial"/>
              <a:buChar char="•"/>
            </a:pPr>
            <a:r>
              <a:rPr lang="en-GB" sz="1150" b="0" i="0">
                <a:solidFill>
                  <a:srgbClr val="000000"/>
                </a:solidFill>
                <a:latin typeface="Roboto"/>
                <a:ea typeface="Roboto"/>
                <a:cs typeface="Roboto"/>
                <a:sym typeface="Roboto"/>
              </a:rPr>
              <a:t>Every variable traced back to Division, opportunity and group</a:t>
            </a:r>
          </a:p>
        </p:txBody>
      </p:sp>
      <p:sp>
        <p:nvSpPr>
          <p:cNvPr id="951" name="tb952"/>
          <p:cNvSpPr txBox="1"/>
          <p:nvPr/>
        </p:nvSpPr>
        <p:spPr>
          <a:xfrm>
            <a:off x="6336792" y="2889504"/>
            <a:ext cx="5074920" cy="329184"/>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600" b="1" i="0">
                <a:solidFill>
                  <a:srgbClr val="1F3864"/>
                </a:solidFill>
                <a:latin typeface="Montserrat"/>
                <a:ea typeface="Montserrat"/>
                <a:cs typeface="Montserrat"/>
                <a:sym typeface="Montserrat"/>
              </a:rPr>
              <a:t>Can CMCC-ESM3 produce them?</a:t>
            </a:r>
          </a:p>
        </p:txBody>
      </p:sp>
      <p:sp>
        <p:nvSpPr>
          <p:cNvPr id="953" name="rc954"/>
          <p:cNvSpPr/>
          <p:nvPr/>
        </p:nvSpPr>
        <p:spPr>
          <a:xfrm>
            <a:off x="6336792" y="3310128"/>
            <a:ext cx="2593980" cy="237744"/>
          </a:xfrm>
          <a:prstGeom prst="rect">
            <a:avLst/>
          </a:prstGeom>
          <a:solidFill>
            <a:srgbClr val="4472C4"/>
          </a:solidFill>
          <a:ln>
            <a:noFill/>
          </a:ln>
        </p:spPr>
        <p:txBody>
          <a:bodyPr/>
          <a:lstStyle/>
          <a:p>
            <a:pPr algn="l" rtl="0">
              <a:buNone/>
            </a:pPr>
          </a:p>
        </p:txBody>
      </p:sp>
      <p:sp>
        <p:nvSpPr>
          <p:cNvPr id="955" name="rc956"/>
          <p:cNvSpPr/>
          <p:nvPr/>
        </p:nvSpPr>
        <p:spPr>
          <a:xfrm>
            <a:off x="8930772" y="3310128"/>
            <a:ext cx="398616" cy="237744"/>
          </a:xfrm>
          <a:prstGeom prst="rect">
            <a:avLst/>
          </a:prstGeom>
          <a:solidFill>
            <a:srgbClr val="8FAADC"/>
          </a:solidFill>
          <a:ln>
            <a:noFill/>
          </a:ln>
        </p:spPr>
        <p:txBody>
          <a:bodyPr/>
          <a:lstStyle/>
          <a:p>
            <a:pPr algn="l" rtl="0">
              <a:buNone/>
            </a:pPr>
          </a:p>
        </p:txBody>
      </p:sp>
      <p:sp>
        <p:nvSpPr>
          <p:cNvPr id="957" name="rc958"/>
          <p:cNvSpPr/>
          <p:nvPr/>
        </p:nvSpPr>
        <p:spPr>
          <a:xfrm>
            <a:off x="9329388" y="3310128"/>
            <a:ext cx="2082323" cy="237744"/>
          </a:xfrm>
          <a:prstGeom prst="rect">
            <a:avLst/>
          </a:prstGeom>
          <a:solidFill>
            <a:srgbClr val="ED7D31"/>
          </a:solidFill>
          <a:ln>
            <a:noFill/>
          </a:ln>
        </p:spPr>
        <p:txBody>
          <a:bodyPr/>
          <a:lstStyle/>
          <a:p>
            <a:pPr algn="l" rtl="0">
              <a:buNone/>
            </a:pPr>
          </a:p>
        </p:txBody>
      </p:sp>
      <p:sp>
        <p:nvSpPr>
          <p:cNvPr id="959" name="rc960"/>
          <p:cNvSpPr/>
          <p:nvPr/>
        </p:nvSpPr>
        <p:spPr>
          <a:xfrm>
            <a:off x="6336792" y="3776472"/>
            <a:ext cx="118872" cy="118872"/>
          </a:xfrm>
          <a:prstGeom prst="rect">
            <a:avLst/>
          </a:prstGeom>
          <a:solidFill>
            <a:srgbClr val="4472C4"/>
          </a:solidFill>
          <a:ln>
            <a:noFill/>
          </a:ln>
        </p:spPr>
        <p:txBody>
          <a:bodyPr/>
          <a:lstStyle/>
          <a:p>
            <a:pPr algn="l" rtl="0">
              <a:buNone/>
            </a:pPr>
          </a:p>
        </p:txBody>
      </p:sp>
      <p:sp>
        <p:nvSpPr>
          <p:cNvPr id="961" name="tb962"/>
          <p:cNvSpPr txBox="1"/>
          <p:nvPr/>
        </p:nvSpPr>
        <p:spPr>
          <a:xfrm>
            <a:off x="6547104" y="3666744"/>
            <a:ext cx="658368" cy="310896"/>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450" b="1" i="0">
                <a:solidFill>
                  <a:srgbClr val="1F3864"/>
                </a:solidFill>
                <a:latin typeface="Montserrat"/>
                <a:ea typeface="Montserrat"/>
                <a:cs typeface="Montserrat"/>
                <a:sym typeface="Montserrat"/>
              </a:rPr>
              <a:t>436</a:t>
            </a:r>
          </a:p>
        </p:txBody>
      </p:sp>
      <p:sp>
        <p:nvSpPr>
          <p:cNvPr id="963" name="tb964"/>
          <p:cNvSpPr txBox="1"/>
          <p:nvPr/>
        </p:nvSpPr>
        <p:spPr>
          <a:xfrm>
            <a:off x="7242048" y="3685031"/>
            <a:ext cx="4169663" cy="566928"/>
          </a:xfrm>
          <a:prstGeom prst="rect">
            <a:avLst/>
          </a:prstGeom>
          <a:noFill/>
          <a:ln>
            <a:noFill/>
          </a:ln>
        </p:spPr>
        <p:txBody>
          <a:bodyPr spcFirstLastPara="1" wrap="square" lIns="0" tIns="0" rIns="0" bIns="0" anchor="t" anchorCtr="0">
            <a:noAutofit/>
          </a:bodyPr>
          <a:lstStyle/>
          <a:p>
            <a:pPr marL="0" indent="0" algn="l" rtl="0">
              <a:lnSpc>
                <a:spcPct val="104000"/>
              </a:lnSpc>
              <a:spcBef>
                <a:spcPts val="0"/>
              </a:spcBef>
              <a:spcAft>
                <a:spcPts val="0"/>
              </a:spcAft>
              <a:buNone/>
            </a:pPr>
            <a:r>
              <a:rPr lang="en-GB" sz="1150" b="0" i="0">
                <a:solidFill>
                  <a:srgbClr val="000000"/>
                </a:solidFill>
                <a:latin typeface="Roboto"/>
                <a:ea typeface="Roboto"/>
                <a:cs typeface="Roboto"/>
                <a:sym typeface="Roboto"/>
              </a:rPr>
              <a:t>produced today — CMOR name maps to a raw model field</a:t>
            </a:r>
          </a:p>
        </p:txBody>
      </p:sp>
      <p:sp>
        <p:nvSpPr>
          <p:cNvPr id="965" name="rc966"/>
          <p:cNvSpPr/>
          <p:nvPr/>
        </p:nvSpPr>
        <p:spPr>
          <a:xfrm>
            <a:off x="6336792" y="4325112"/>
            <a:ext cx="118872" cy="118872"/>
          </a:xfrm>
          <a:prstGeom prst="rect">
            <a:avLst/>
          </a:prstGeom>
          <a:solidFill>
            <a:srgbClr val="8FAADC"/>
          </a:solidFill>
          <a:ln>
            <a:noFill/>
          </a:ln>
        </p:spPr>
        <p:txBody>
          <a:bodyPr/>
          <a:lstStyle/>
          <a:p>
            <a:pPr algn="l" rtl="0">
              <a:buNone/>
            </a:pPr>
          </a:p>
        </p:txBody>
      </p:sp>
      <p:sp>
        <p:nvSpPr>
          <p:cNvPr id="967" name="tb968"/>
          <p:cNvSpPr txBox="1"/>
          <p:nvPr/>
        </p:nvSpPr>
        <p:spPr>
          <a:xfrm>
            <a:off x="6547104" y="4215383"/>
            <a:ext cx="658368" cy="310896"/>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450" b="1" i="0">
                <a:solidFill>
                  <a:srgbClr val="1F3864"/>
                </a:solidFill>
                <a:latin typeface="Montserrat"/>
                <a:ea typeface="Montserrat"/>
                <a:cs typeface="Montserrat"/>
                <a:sym typeface="Montserrat"/>
              </a:rPr>
              <a:t>67</a:t>
            </a:r>
          </a:p>
        </p:txBody>
      </p:sp>
      <p:sp>
        <p:nvSpPr>
          <p:cNvPr id="969" name="tb970"/>
          <p:cNvSpPr txBox="1"/>
          <p:nvPr/>
        </p:nvSpPr>
        <p:spPr>
          <a:xfrm>
            <a:off x="7242048" y="4233671"/>
            <a:ext cx="4169663" cy="566928"/>
          </a:xfrm>
          <a:prstGeom prst="rect">
            <a:avLst/>
          </a:prstGeom>
          <a:noFill/>
          <a:ln>
            <a:noFill/>
          </a:ln>
        </p:spPr>
        <p:txBody>
          <a:bodyPr spcFirstLastPara="1" wrap="square" lIns="0" tIns="0" rIns="0" bIns="0" anchor="t" anchorCtr="0">
            <a:noAutofit/>
          </a:bodyPr>
          <a:lstStyle/>
          <a:p>
            <a:pPr marL="0" indent="0" algn="l" rtl="0">
              <a:lnSpc>
                <a:spcPct val="104000"/>
              </a:lnSpc>
              <a:spcBef>
                <a:spcPts val="0"/>
              </a:spcBef>
              <a:spcAft>
                <a:spcPts val="0"/>
              </a:spcAft>
              <a:buNone/>
            </a:pPr>
            <a:r>
              <a:rPr lang="en-GB" sz="1150" b="0" i="0">
                <a:solidFill>
                  <a:srgbClr val="000000"/>
                </a:solidFill>
                <a:latin typeface="Roboto"/>
                <a:ea typeface="Roboto"/>
                <a:cs typeface="Roboto"/>
                <a:sym typeface="Roboto"/>
              </a:rPr>
              <a:t>derivable — slice or average of a field already stored, no extra storage</a:t>
            </a:r>
          </a:p>
        </p:txBody>
      </p:sp>
      <p:sp>
        <p:nvSpPr>
          <p:cNvPr id="971" name="rc972"/>
          <p:cNvSpPr/>
          <p:nvPr/>
        </p:nvSpPr>
        <p:spPr>
          <a:xfrm>
            <a:off x="6336792" y="4873751"/>
            <a:ext cx="118872" cy="118872"/>
          </a:xfrm>
          <a:prstGeom prst="rect">
            <a:avLst/>
          </a:prstGeom>
          <a:solidFill>
            <a:srgbClr val="ED7D31"/>
          </a:solidFill>
          <a:ln>
            <a:noFill/>
          </a:ln>
        </p:spPr>
        <p:txBody>
          <a:bodyPr/>
          <a:lstStyle/>
          <a:p>
            <a:pPr algn="l" rtl="0">
              <a:buNone/>
            </a:pPr>
          </a:p>
        </p:txBody>
      </p:sp>
      <p:sp>
        <p:nvSpPr>
          <p:cNvPr id="973" name="tb974"/>
          <p:cNvSpPr txBox="1"/>
          <p:nvPr/>
        </p:nvSpPr>
        <p:spPr>
          <a:xfrm>
            <a:off x="6547104" y="4764023"/>
            <a:ext cx="658368" cy="310896"/>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450" b="1" i="0">
                <a:solidFill>
                  <a:srgbClr val="1F3864"/>
                </a:solidFill>
                <a:latin typeface="Montserrat"/>
                <a:ea typeface="Montserrat"/>
                <a:cs typeface="Montserrat"/>
                <a:sym typeface="Montserrat"/>
              </a:rPr>
              <a:t>350</a:t>
            </a:r>
          </a:p>
        </p:txBody>
      </p:sp>
      <p:sp>
        <p:nvSpPr>
          <p:cNvPr id="975" name="tb976"/>
          <p:cNvSpPr txBox="1"/>
          <p:nvPr/>
        </p:nvSpPr>
        <p:spPr>
          <a:xfrm>
            <a:off x="7242048" y="4782311"/>
            <a:ext cx="4169663" cy="566928"/>
          </a:xfrm>
          <a:prstGeom prst="rect">
            <a:avLst/>
          </a:prstGeom>
          <a:noFill/>
          <a:ln>
            <a:noFill/>
          </a:ln>
        </p:spPr>
        <p:txBody>
          <a:bodyPr spcFirstLastPara="1" wrap="square" lIns="0" tIns="0" rIns="0" bIns="0" anchor="t" anchorCtr="0">
            <a:noAutofit/>
          </a:bodyPr>
          <a:lstStyle/>
          <a:p>
            <a:pPr marL="0" indent="0" algn="l" rtl="0">
              <a:lnSpc>
                <a:spcPct val="104000"/>
              </a:lnSpc>
              <a:spcBef>
                <a:spcPts val="0"/>
              </a:spcBef>
              <a:spcAft>
                <a:spcPts val="0"/>
              </a:spcAft>
              <a:buNone/>
            </a:pPr>
            <a:r>
              <a:rPr lang="en-GB" sz="1150" b="0" i="0">
                <a:solidFill>
                  <a:srgbClr val="000000"/>
                </a:solidFill>
                <a:latin typeface="Roboto"/>
                <a:ea typeface="Roboto"/>
                <a:cs typeface="Roboto"/>
                <a:sym typeface="Roboto"/>
              </a:rPr>
              <a:t>NEW CMIP7 variables — requested, not produced by CMCC-ESM3 today</a:t>
            </a:r>
          </a:p>
        </p:txBody>
      </p:sp>
      <p:sp>
        <p:nvSpPr>
          <p:cNvPr id="977" name="tb978"/>
          <p:cNvSpPr txBox="1"/>
          <p:nvPr/>
        </p:nvSpPr>
        <p:spPr>
          <a:xfrm>
            <a:off x="6336792" y="5230368"/>
            <a:ext cx="5074920" cy="566928"/>
          </a:xfrm>
          <a:prstGeom prst="rect">
            <a:avLst/>
          </a:prstGeom>
          <a:noFill/>
          <a:ln>
            <a:noFill/>
          </a:ln>
        </p:spPr>
        <p:txBody>
          <a:bodyPr spcFirstLastPara="1" wrap="square" lIns="0" tIns="0" rIns="0" bIns="0" anchor="t" anchorCtr="0">
            <a:noAutofit/>
          </a:bodyPr>
          <a:lstStyle/>
          <a:p>
            <a:pPr marL="0" indent="0" algn="l" rtl="0">
              <a:lnSpc>
                <a:spcPct val="104000"/>
              </a:lnSpc>
              <a:spcBef>
                <a:spcPts val="0"/>
              </a:spcBef>
              <a:spcAft>
                <a:spcPts val="0"/>
              </a:spcAft>
              <a:buNone/>
            </a:pPr>
            <a:r>
              <a:rPr lang="en-GB" sz="1100" b="0" i="1">
                <a:solidFill>
                  <a:srgbClr val="595959"/>
                </a:solidFill>
                <a:latin typeface="Roboto"/>
                <a:ea typeface="Roboto"/>
                <a:cs typeface="Roboto"/>
                <a:sym typeface="Roboto"/>
              </a:rPr>
              <a:t>New CMIP7 variables by realm: land 96, atmos 65, ocean BGC 55, aerosol 49, ocean 34, atmos chemistry 23, sea ice 18, land ice 10. Aerosol and atmospheric chemistry are almost entirely new (2 of 75 producible).</a:t>
            </a:r>
          </a:p>
        </p:txBody>
      </p:sp>
      <p:sp>
        <p:nvSpPr>
          <p:cNvPr id="979" name="tb980"/>
          <p:cNvSpPr txBox="1"/>
          <p:nvPr/>
        </p:nvSpPr>
        <p:spPr>
          <a:xfrm>
            <a:off x="777240" y="6144768"/>
            <a:ext cx="10634472" cy="777240"/>
          </a:xfrm>
          <a:prstGeom prst="rect">
            <a:avLst/>
          </a:prstGeom>
          <a:noFill/>
          <a:ln>
            <a:noFill/>
          </a:ln>
        </p:spPr>
        <p:txBody>
          <a:bodyPr spcFirstLastPara="1" wrap="square" lIns="0" tIns="0" rIns="0" bIns="0" anchor="t" anchorCtr="0">
            <a:noAutofit/>
          </a:bodyPr>
          <a:lstStyle/>
          <a:p>
            <a:pPr marL="0" indent="0" algn="l" rtl="0">
              <a:lnSpc>
                <a:spcPct val="110000"/>
              </a:lnSpc>
              <a:spcBef>
                <a:spcPts val="0"/>
              </a:spcBef>
              <a:spcAft>
                <a:spcPts val="100"/>
              </a:spcAft>
              <a:buNone/>
            </a:pPr>
            <a:r>
              <a:rPr lang="en-GB" sz="1000" b="0" i="0">
                <a:solidFill>
                  <a:srgbClr val="595959"/>
                </a:solidFill>
                <a:latin typeface="Roboto"/>
                <a:ea typeface="Roboto"/>
                <a:cs typeface="Roboto"/>
                <a:sym typeface="Roboto"/>
              </a:rPr>
              <a:t>853 counts one entry per requested variable × frequency × statistic (the unit the model output configuration needs); the same field at daily and monthly is one raw model variable, hence 660 distinct CMOR names.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p26"/>
          <p:cNvPicPr preferRelativeResize="0"/>
          <p:nvPr/>
        </p:nvPicPr>
        <p:blipFill rotWithShape="1">
          <a:blip r:embed="rId3">
            <a:alphaModFix/>
          </a:blip>
          <a:srcRect/>
          <a:stretch/>
        </p:blipFill>
        <p:spPr>
          <a:xfrm>
            <a:off x="-11274" y="0"/>
            <a:ext cx="12203273" cy="1025480"/>
          </a:xfrm>
          <a:prstGeom prst="rect">
            <a:avLst/>
          </a:prstGeom>
          <a:noFill/>
          <a:ln>
            <a:noFill/>
          </a:ln>
        </p:spPr>
      </p:pic>
      <p:sp>
        <p:nvSpPr>
          <p:cNvPr id="255" name="Google Shape;255;p26"/>
          <p:cNvSpPr txBox="1"/>
          <p:nvPr/>
        </p:nvSpPr>
        <p:spPr>
          <a:xfrm>
            <a:off x="672531" y="361025"/>
            <a:ext cx="8743800" cy="5220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400"/>
              <a:buFont typeface="Calibri"/>
              <a:buNone/>
            </a:pPr>
            <a:r>
              <a:rPr lang="it-IT" sz="3200" b="1">
                <a:solidFill>
                  <a:schemeClr val="lt1"/>
                </a:solidFill>
                <a:latin typeface="Montserrat"/>
                <a:ea typeface="Montserrat"/>
                <a:cs typeface="Montserrat"/>
                <a:sym typeface="Montserrat"/>
              </a:rPr>
              <a:t>CMCC AR7-FT Data Request (3)</a:t>
            </a:r>
            <a:endParaRPr sz="3200" b="0" i="0" u="none" strike="noStrike" cap="none">
              <a:solidFill>
                <a:schemeClr val="lt1"/>
              </a:solidFill>
              <a:latin typeface="Arial"/>
              <a:ea typeface="Arial"/>
              <a:cs typeface="Arial"/>
              <a:sym typeface="Arial"/>
            </a:endParaRPr>
          </a:p>
        </p:txBody>
      </p:sp>
      <p:sp>
        <p:nvSpPr>
          <p:cNvPr id="256" name="Google Shape;256;p26"/>
          <p:cNvSpPr/>
          <p:nvPr/>
        </p:nvSpPr>
        <p:spPr>
          <a:xfrm>
            <a:off x="-151579" y="1019517"/>
            <a:ext cx="12483900" cy="456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B0F0"/>
              </a:solidFill>
              <a:latin typeface="Arial"/>
              <a:ea typeface="Arial"/>
              <a:cs typeface="Arial"/>
              <a:sym typeface="Arial"/>
            </a:endParaRPr>
          </a:p>
        </p:txBody>
      </p:sp>
      <p:sp>
        <p:nvSpPr>
          <p:cNvPr id="257" name="Google Shape;257;p26"/>
          <p:cNvSpPr/>
          <p:nvPr/>
        </p:nvSpPr>
        <p:spPr>
          <a:xfrm>
            <a:off x="-11274" y="6786545"/>
            <a:ext cx="12203400" cy="891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258" name="Google Shape;258;p26" descr="Immagine che contiene Carattere, Elementi grafici, logo, simbolo  Descrizione generata automaticamente"/>
          <p:cNvPicPr preferRelativeResize="0"/>
          <p:nvPr/>
        </p:nvPicPr>
        <p:blipFill rotWithShape="1">
          <a:blip r:embed="rId4">
            <a:alphaModFix/>
          </a:blip>
          <a:srcRect/>
          <a:stretch/>
        </p:blipFill>
        <p:spPr>
          <a:xfrm>
            <a:off x="9727799" y="207657"/>
            <a:ext cx="1978358" cy="675420"/>
          </a:xfrm>
          <a:prstGeom prst="rect">
            <a:avLst/>
          </a:prstGeom>
          <a:noFill/>
          <a:ln>
            <a:noFill/>
          </a:ln>
        </p:spPr>
      </p:pic>
      <p:sp>
        <p:nvSpPr>
          <p:cNvPr id="981" name="tb982"/>
          <p:cNvSpPr txBox="1"/>
          <p:nvPr/>
        </p:nvSpPr>
        <p:spPr>
          <a:xfrm>
            <a:off x="777240" y="1133856"/>
            <a:ext cx="10634472" cy="310896"/>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250" b="0" i="1">
                <a:solidFill>
                  <a:srgbClr val="595959"/>
                </a:solidFill>
                <a:latin typeface="Roboto"/>
                <a:ea typeface="Roboto"/>
                <a:cs typeface="Roboto"/>
                <a:sym typeface="Roboto"/>
              </a:rPr>
              <a:t>Storage cost on the CMCC-ESM3 grid — GB per simulated model-year, uncompressed on-disk size</a:t>
            </a:r>
          </a:p>
        </p:txBody>
      </p:sp>
      <p:sp>
        <p:nvSpPr>
          <p:cNvPr id="983" name="rc984"/>
          <p:cNvSpPr/>
          <p:nvPr/>
        </p:nvSpPr>
        <p:spPr>
          <a:xfrm>
            <a:off x="777240" y="1517904"/>
            <a:ext cx="3392424" cy="1097280"/>
          </a:xfrm>
          <a:prstGeom prst="roundRect">
            <a:avLst>
              <a:gd name="adj" fmla="val 6666"/>
            </a:avLst>
          </a:prstGeom>
          <a:solidFill>
            <a:srgbClr val="F1F4F9"/>
          </a:solidFill>
          <a:ln>
            <a:noFill/>
          </a:ln>
        </p:spPr>
        <p:txBody>
          <a:bodyPr/>
          <a:lstStyle/>
          <a:p>
            <a:pPr algn="l" rtl="0">
              <a:buNone/>
            </a:pPr>
          </a:p>
        </p:txBody>
      </p:sp>
      <p:sp>
        <p:nvSpPr>
          <p:cNvPr id="985" name="tb986"/>
          <p:cNvSpPr txBox="1"/>
          <p:nvPr/>
        </p:nvSpPr>
        <p:spPr>
          <a:xfrm>
            <a:off x="832103" y="1572768"/>
            <a:ext cx="3282696" cy="1005840"/>
          </a:xfrm>
          <a:prstGeom prst="rect">
            <a:avLst/>
          </a:prstGeom>
          <a:noFill/>
          <a:ln>
            <a:noFill/>
          </a:ln>
        </p:spPr>
        <p:txBody>
          <a:bodyPr spcFirstLastPara="1" wrap="square" lIns="109728" tIns="109728" rIns="109728" bIns="109728" anchor="t" anchorCtr="0">
            <a:noAutofit/>
          </a:bodyPr>
          <a:lstStyle/>
          <a:p>
            <a:pPr marL="0" indent="0" algn="l" rtl="0">
              <a:lnSpc>
                <a:spcPct val="95000"/>
              </a:lnSpc>
              <a:spcBef>
                <a:spcPts val="0"/>
              </a:spcBef>
              <a:spcAft>
                <a:spcPts val="200"/>
              </a:spcAft>
              <a:buNone/>
            </a:pPr>
            <a:r>
              <a:rPr lang="en-GB" sz="3200" b="1" i="0">
                <a:solidFill>
                  <a:srgbClr val="1F3864"/>
                </a:solidFill>
                <a:latin typeface="Montserrat"/>
                <a:ea typeface="Montserrat"/>
                <a:cs typeface="Montserrat"/>
                <a:sym typeface="Montserrat"/>
              </a:rPr>
              <a:t>213</a:t>
            </a:r>
            <a:r>
              <a:rPr lang="en-GB" sz="1500" b="1" i="0">
                <a:solidFill>
                  <a:srgbClr val="4472C4"/>
                </a:solidFill>
                <a:latin typeface="Montserrat"/>
                <a:ea typeface="Montserrat"/>
                <a:cs typeface="Montserrat"/>
                <a:sym typeface="Montserrat"/>
              </a:rPr>
              <a:t> GB/yr</a:t>
            </a:r>
          </a:p>
          <a:p>
            <a:pPr marL="0" indent="0" algn="l" rtl="0">
              <a:lnSpc>
                <a:spcPct val="105000"/>
              </a:lnSpc>
              <a:spcBef>
                <a:spcPts val="0"/>
              </a:spcBef>
              <a:spcAft>
                <a:spcPts val="0"/>
              </a:spcAft>
              <a:buNone/>
            </a:pPr>
            <a:r>
              <a:rPr lang="en-GB" sz="1100" b="0" i="0">
                <a:solidFill>
                  <a:srgbClr val="595959"/>
                </a:solidFill>
                <a:latin typeface="Roboto"/>
                <a:ea typeface="Roboto"/>
                <a:cs typeface="Roboto"/>
                <a:sym typeface="Roboto"/>
              </a:rPr>
              <a:t>produced today — about 2× a CMIP6 model-year</a:t>
            </a:r>
          </a:p>
        </p:txBody>
      </p:sp>
      <p:sp>
        <p:nvSpPr>
          <p:cNvPr id="987" name="rc988"/>
          <p:cNvSpPr/>
          <p:nvPr/>
        </p:nvSpPr>
        <p:spPr>
          <a:xfrm>
            <a:off x="4398264" y="1517904"/>
            <a:ext cx="3392424" cy="1097280"/>
          </a:xfrm>
          <a:prstGeom prst="roundRect">
            <a:avLst>
              <a:gd name="adj" fmla="val 6666"/>
            </a:avLst>
          </a:prstGeom>
          <a:solidFill>
            <a:srgbClr val="F1F4F9"/>
          </a:solidFill>
          <a:ln>
            <a:noFill/>
          </a:ln>
        </p:spPr>
        <p:txBody>
          <a:bodyPr/>
          <a:lstStyle/>
          <a:p>
            <a:pPr algn="l" rtl="0">
              <a:buNone/>
            </a:pPr>
          </a:p>
        </p:txBody>
      </p:sp>
      <p:sp>
        <p:nvSpPr>
          <p:cNvPr id="989" name="tb990"/>
          <p:cNvSpPr txBox="1"/>
          <p:nvPr/>
        </p:nvSpPr>
        <p:spPr>
          <a:xfrm>
            <a:off x="4453127" y="1572768"/>
            <a:ext cx="3282696" cy="1005840"/>
          </a:xfrm>
          <a:prstGeom prst="rect">
            <a:avLst/>
          </a:prstGeom>
          <a:noFill/>
          <a:ln>
            <a:noFill/>
          </a:ln>
        </p:spPr>
        <p:txBody>
          <a:bodyPr spcFirstLastPara="1" wrap="square" lIns="109728" tIns="109728" rIns="109728" bIns="109728" anchor="t" anchorCtr="0">
            <a:noAutofit/>
          </a:bodyPr>
          <a:lstStyle/>
          <a:p>
            <a:pPr marL="0" indent="0" algn="l" rtl="0">
              <a:lnSpc>
                <a:spcPct val="95000"/>
              </a:lnSpc>
              <a:spcBef>
                <a:spcPts val="0"/>
              </a:spcBef>
              <a:spcAft>
                <a:spcPts val="200"/>
              </a:spcAft>
              <a:buNone/>
            </a:pPr>
            <a:r>
              <a:rPr lang="en-GB" sz="3200" b="1" i="0">
                <a:solidFill>
                  <a:srgbClr val="1F3864"/>
                </a:solidFill>
                <a:latin typeface="Montserrat"/>
                <a:ea typeface="Montserrat"/>
                <a:cs typeface="Montserrat"/>
                <a:sym typeface="Montserrat"/>
              </a:rPr>
              <a:t>+224</a:t>
            </a:r>
            <a:r>
              <a:rPr lang="en-GB" sz="1500" b="1" i="0">
                <a:solidFill>
                  <a:srgbClr val="4472C4"/>
                </a:solidFill>
                <a:latin typeface="Montserrat"/>
                <a:ea typeface="Montserrat"/>
                <a:cs typeface="Montserrat"/>
                <a:sym typeface="Montserrat"/>
              </a:rPr>
              <a:t> GB/yr</a:t>
            </a:r>
          </a:p>
          <a:p>
            <a:pPr marL="0" indent="0" algn="l" rtl="0">
              <a:lnSpc>
                <a:spcPct val="105000"/>
              </a:lnSpc>
              <a:spcBef>
                <a:spcPts val="0"/>
              </a:spcBef>
              <a:spcAft>
                <a:spcPts val="0"/>
              </a:spcAft>
              <a:buNone/>
            </a:pPr>
            <a:r>
              <a:rPr lang="en-GB" sz="1100" b="0" i="0">
                <a:solidFill>
                  <a:srgbClr val="595959"/>
                </a:solidFill>
                <a:latin typeface="Roboto"/>
                <a:ea typeface="Roboto"/>
                <a:cs typeface="Roboto"/>
                <a:sym typeface="Roboto"/>
              </a:rPr>
              <a:t>extra storage for the new CMIP7 variables</a:t>
            </a:r>
          </a:p>
        </p:txBody>
      </p:sp>
      <p:sp>
        <p:nvSpPr>
          <p:cNvPr id="991" name="rc992"/>
          <p:cNvSpPr/>
          <p:nvPr/>
        </p:nvSpPr>
        <p:spPr>
          <a:xfrm>
            <a:off x="8019288" y="1517904"/>
            <a:ext cx="3392424" cy="1097280"/>
          </a:xfrm>
          <a:prstGeom prst="roundRect">
            <a:avLst>
              <a:gd name="adj" fmla="val 6666"/>
            </a:avLst>
          </a:prstGeom>
          <a:solidFill>
            <a:srgbClr val="F1F4F9"/>
          </a:solidFill>
          <a:ln>
            <a:noFill/>
          </a:ln>
        </p:spPr>
        <p:txBody>
          <a:bodyPr/>
          <a:lstStyle/>
          <a:p>
            <a:pPr algn="l" rtl="0">
              <a:buNone/>
            </a:pPr>
          </a:p>
        </p:txBody>
      </p:sp>
      <p:sp>
        <p:nvSpPr>
          <p:cNvPr id="993" name="tb994"/>
          <p:cNvSpPr txBox="1"/>
          <p:nvPr/>
        </p:nvSpPr>
        <p:spPr>
          <a:xfrm>
            <a:off x="8074152" y="1572768"/>
            <a:ext cx="3282696" cy="1005840"/>
          </a:xfrm>
          <a:prstGeom prst="rect">
            <a:avLst/>
          </a:prstGeom>
          <a:noFill/>
          <a:ln>
            <a:noFill/>
          </a:ln>
        </p:spPr>
        <p:txBody>
          <a:bodyPr spcFirstLastPara="1" wrap="square" lIns="109728" tIns="109728" rIns="109728" bIns="109728" anchor="t" anchorCtr="0">
            <a:noAutofit/>
          </a:bodyPr>
          <a:lstStyle/>
          <a:p>
            <a:pPr marL="0" indent="0" algn="l" rtl="0">
              <a:lnSpc>
                <a:spcPct val="95000"/>
              </a:lnSpc>
              <a:spcBef>
                <a:spcPts val="0"/>
              </a:spcBef>
              <a:spcAft>
                <a:spcPts val="200"/>
              </a:spcAft>
              <a:buNone/>
            </a:pPr>
            <a:r>
              <a:rPr lang="en-GB" sz="3200" b="1" i="0">
                <a:solidFill>
                  <a:srgbClr val="1F3864"/>
                </a:solidFill>
                <a:latin typeface="Montserrat"/>
                <a:ea typeface="Montserrat"/>
                <a:cs typeface="Montserrat"/>
                <a:sym typeface="Montserrat"/>
              </a:rPr>
              <a:t>437</a:t>
            </a:r>
            <a:r>
              <a:rPr lang="en-GB" sz="1500" b="1" i="0">
                <a:solidFill>
                  <a:srgbClr val="4472C4"/>
                </a:solidFill>
                <a:latin typeface="Montserrat"/>
                <a:ea typeface="Montserrat"/>
                <a:cs typeface="Montserrat"/>
                <a:sym typeface="Montserrat"/>
              </a:rPr>
              <a:t> GB/yr</a:t>
            </a:r>
          </a:p>
          <a:p>
            <a:pPr marL="0" indent="0" algn="l" rtl="0">
              <a:lnSpc>
                <a:spcPct val="105000"/>
              </a:lnSpc>
              <a:spcBef>
                <a:spcPts val="0"/>
              </a:spcBef>
              <a:spcAft>
                <a:spcPts val="0"/>
              </a:spcAft>
              <a:buNone/>
            </a:pPr>
            <a:r>
              <a:rPr lang="en-GB" sz="1100" b="0" i="0">
                <a:solidFill>
                  <a:srgbClr val="595959"/>
                </a:solidFill>
                <a:latin typeface="Roboto"/>
                <a:ea typeface="Roboto"/>
                <a:cs typeface="Roboto"/>
                <a:sym typeface="Roboto"/>
              </a:rPr>
              <a:t>full request ≈ 4.4× CMIP6; derivable variables are free</a:t>
            </a:r>
          </a:p>
        </p:txBody>
      </p:sp>
      <p:sp>
        <p:nvSpPr>
          <p:cNvPr id="995" name="rc996"/>
          <p:cNvSpPr/>
          <p:nvPr/>
        </p:nvSpPr>
        <p:spPr>
          <a:xfrm>
            <a:off x="777240" y="2724912"/>
            <a:ext cx="10634472" cy="512064"/>
          </a:xfrm>
          <a:prstGeom prst="roundRect">
            <a:avLst>
              <a:gd name="adj" fmla="val 14285"/>
            </a:avLst>
          </a:prstGeom>
          <a:solidFill>
            <a:srgbClr val="F1F4F9"/>
          </a:solidFill>
          <a:ln>
            <a:noFill/>
          </a:ln>
        </p:spPr>
        <p:txBody>
          <a:bodyPr/>
          <a:lstStyle/>
          <a:p>
            <a:pPr algn="l" rtl="0">
              <a:buNone/>
            </a:pPr>
          </a:p>
        </p:txBody>
      </p:sp>
      <p:sp>
        <p:nvSpPr>
          <p:cNvPr id="997" name="tb998"/>
          <p:cNvSpPr txBox="1"/>
          <p:nvPr/>
        </p:nvSpPr>
        <p:spPr>
          <a:xfrm>
            <a:off x="886968" y="2724912"/>
            <a:ext cx="10415016" cy="512064"/>
          </a:xfrm>
          <a:prstGeom prst="rect">
            <a:avLst/>
          </a:prstGeom>
          <a:noFill/>
          <a:ln>
            <a:noFill/>
          </a:ln>
        </p:spPr>
        <p:txBody>
          <a:bodyPr spcFirstLastPara="1" wrap="square" lIns="0" tIns="0" rIns="0" bIns="0" anchor="ctr" anchorCtr="0">
            <a:noAutofit/>
          </a:bodyPr>
          <a:lstStyle/>
          <a:p>
            <a:pPr marL="0" indent="0" algn="l" rtl="0">
              <a:lnSpc>
                <a:spcPct val="100000"/>
              </a:lnSpc>
              <a:spcBef>
                <a:spcPts val="0"/>
              </a:spcBef>
              <a:spcAft>
                <a:spcPts val="0"/>
              </a:spcAft>
              <a:buNone/>
            </a:pPr>
            <a:r>
              <a:rPr lang="en-GB" sz="1250" b="1" i="0">
                <a:solidFill>
                  <a:srgbClr val="1F3864"/>
                </a:solidFill>
                <a:latin typeface="Montserrat"/>
                <a:ea typeface="Montserrat"/>
                <a:cs typeface="Montserrat"/>
                <a:sym typeface="Montserrat"/>
              </a:rPr>
              <a:t>AR7 fast-track ≈ 2500 model-years  →  </a:t>
            </a:r>
            <a:r>
              <a:rPr lang="en-GB" sz="1250" b="1" i="0">
                <a:solidFill>
                  <a:srgbClr val="4472C4"/>
                </a:solidFill>
                <a:latin typeface="Montserrat"/>
                <a:ea typeface="Montserrat"/>
                <a:cs typeface="Montserrat"/>
                <a:sym typeface="Montserrat"/>
              </a:rPr>
              <a:t>0.51 PB</a:t>
            </a:r>
            <a:r>
              <a:rPr lang="en-GB" sz="1250" b="0" i="0">
                <a:solidFill>
                  <a:srgbClr val="595959"/>
                </a:solidFill>
                <a:latin typeface="Roboto"/>
                <a:ea typeface="Roboto"/>
                <a:cs typeface="Roboto"/>
                <a:sym typeface="Roboto"/>
              </a:rPr>
              <a:t> produced  ·  </a:t>
            </a:r>
            <a:r>
              <a:rPr lang="en-GB" sz="1250" b="1" i="0">
                <a:solidFill>
                  <a:srgbClr val="ED7D31"/>
                </a:solidFill>
                <a:latin typeface="Montserrat"/>
                <a:ea typeface="Montserrat"/>
                <a:cs typeface="Montserrat"/>
                <a:sym typeface="Montserrat"/>
              </a:rPr>
              <a:t>+0.53 PB</a:t>
            </a:r>
            <a:r>
              <a:rPr lang="en-GB" sz="1250" b="0" i="0">
                <a:solidFill>
                  <a:srgbClr val="595959"/>
                </a:solidFill>
                <a:latin typeface="Roboto"/>
                <a:ea typeface="Roboto"/>
                <a:cs typeface="Roboto"/>
                <a:sym typeface="Roboto"/>
              </a:rPr>
              <a:t> new CMIP7 variables  ·  </a:t>
            </a:r>
            <a:r>
              <a:rPr lang="en-GB" sz="1250" b="1" i="0">
                <a:solidFill>
                  <a:srgbClr val="1F3864"/>
                </a:solidFill>
                <a:latin typeface="Montserrat"/>
                <a:ea typeface="Montserrat"/>
                <a:cs typeface="Montserrat"/>
                <a:sym typeface="Montserrat"/>
              </a:rPr>
              <a:t>1.04 PB</a:t>
            </a:r>
            <a:r>
              <a:rPr lang="en-GB" sz="1250" b="0" i="0">
                <a:solidFill>
                  <a:srgbClr val="595959"/>
                </a:solidFill>
                <a:latin typeface="Roboto"/>
                <a:ea typeface="Roboto"/>
                <a:cs typeface="Roboto"/>
                <a:sym typeface="Roboto"/>
              </a:rPr>
              <a:t> full request</a:t>
            </a:r>
          </a:p>
        </p:txBody>
      </p:sp>
      <p:sp>
        <p:nvSpPr>
          <p:cNvPr id="999" name="tb1000"/>
          <p:cNvSpPr txBox="1"/>
          <p:nvPr/>
        </p:nvSpPr>
        <p:spPr>
          <a:xfrm>
            <a:off x="777240" y="3346704"/>
            <a:ext cx="5577840" cy="329184"/>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600" b="1" i="0">
                <a:solidFill>
                  <a:srgbClr val="1F3864"/>
                </a:solidFill>
                <a:latin typeface="Montserrat"/>
                <a:ea typeface="Montserrat"/>
                <a:cs typeface="Montserrat"/>
                <a:sym typeface="Montserrat"/>
              </a:rPr>
              <a:t>Where the cost sits</a:t>
            </a:r>
          </a:p>
        </p:txBody>
      </p:sp>
      <p:sp>
        <p:nvSpPr>
          <p:cNvPr id="1001" name="tb1002"/>
          <p:cNvSpPr txBox="1"/>
          <p:nvPr/>
        </p:nvSpPr>
        <p:spPr>
          <a:xfrm>
            <a:off x="777240" y="3712463"/>
            <a:ext cx="5577840" cy="2011680"/>
          </a:xfrm>
          <a:prstGeom prst="rect">
            <a:avLst/>
          </a:prstGeom>
          <a:noFill/>
          <a:ln>
            <a:noFill/>
          </a:ln>
        </p:spPr>
        <p:txBody>
          <a:bodyPr spcFirstLastPara="1" wrap="square" lIns="0" tIns="0" rIns="0" bIns="0" anchor="t" anchorCtr="0">
            <a:noAutofit/>
          </a:bodyPr>
          <a:lstStyle/>
          <a:p>
            <a:pPr marL="190500" indent="-190500" algn="l" rtl="0">
              <a:lnSpc>
                <a:spcPct val="104000"/>
              </a:lnSpc>
              <a:spcBef>
                <a:spcPts val="0"/>
              </a:spcBef>
              <a:spcAft>
                <a:spcPts val="500"/>
              </a:spcAft>
              <a:buClr>
                <a:srgbClr val="4472C4"/>
              </a:buClr>
              <a:buFont typeface="Arial"/>
              <a:buChar char="•"/>
            </a:pPr>
            <a:r>
              <a:rPr lang="en-GB" sz="1250" b="0" i="0">
                <a:solidFill>
                  <a:srgbClr val="000000"/>
                </a:solidFill>
                <a:latin typeface="Roboto"/>
                <a:ea typeface="Roboto"/>
                <a:cs typeface="Roboto"/>
                <a:sym typeface="Roboto"/>
              </a:rPr>
              <a:t>Ocean 3-hourly is the whole story: 174 of the 224 GB of new variables (daily 41, monthly 10)</a:t>
            </a:r>
          </a:p>
          <a:p>
            <a:pPr marL="190500" indent="-190500" algn="l" rtl="0">
              <a:lnSpc>
                <a:spcPct val="104000"/>
              </a:lnSpc>
              <a:spcBef>
                <a:spcPts val="0"/>
              </a:spcBef>
              <a:spcAft>
                <a:spcPts val="500"/>
              </a:spcAft>
              <a:buClr>
                <a:srgbClr val="4472C4"/>
              </a:buClr>
              <a:buFont typeface="Arial"/>
              <a:buChar char="•"/>
            </a:pPr>
            <a:r>
              <a:rPr lang="en-GB" sz="1250" b="0" i="0">
                <a:solidFill>
                  <a:srgbClr val="000000"/>
                </a:solidFill>
                <a:latin typeface="Roboto"/>
                <a:ea typeface="Roboto"/>
                <a:cs typeface="Roboto"/>
                <a:sym typeface="Roboto"/>
              </a:rPr>
              <a:t>Two fields alone are 76 % of it — ficeberg 86 and hfrunoffds 85 GB/yr</a:t>
            </a:r>
          </a:p>
          <a:p>
            <a:pPr marL="190500" indent="-190500" algn="l" rtl="0">
              <a:lnSpc>
                <a:spcPct val="104000"/>
              </a:lnSpc>
              <a:spcBef>
                <a:spcPts val="0"/>
              </a:spcBef>
              <a:spcAft>
                <a:spcPts val="500"/>
              </a:spcAft>
              <a:buClr>
                <a:srgbClr val="4472C4"/>
              </a:buClr>
              <a:buFont typeface="Arial"/>
              <a:buChar char="•"/>
            </a:pPr>
            <a:r>
              <a:rPr lang="en-GB" sz="1250" b="0" i="0">
                <a:solidFill>
                  <a:srgbClr val="000000"/>
                </a:solidFill>
                <a:latin typeface="Roboto"/>
                <a:ea typeface="Roboto"/>
                <a:cs typeface="Roboto"/>
                <a:sym typeface="Roboto"/>
              </a:rPr>
              <a:t>One 3-D ocean field at 3hr ≈ 92 GB/yr; a 3-D atmos field ≈ 33 GB/yr</a:t>
            </a:r>
          </a:p>
          <a:p>
            <a:pPr marL="190500" indent="-190500" algn="l" rtl="0">
              <a:lnSpc>
                <a:spcPct val="104000"/>
              </a:lnSpc>
              <a:spcBef>
                <a:spcPts val="0"/>
              </a:spcBef>
              <a:spcAft>
                <a:spcPts val="500"/>
              </a:spcAft>
              <a:buClr>
                <a:srgbClr val="4472C4"/>
              </a:buClr>
              <a:buFont typeface="Arial"/>
              <a:buChar char="•"/>
            </a:pPr>
            <a:r>
              <a:rPr lang="en-GB" sz="1250" b="0" i="0">
                <a:solidFill>
                  <a:srgbClr val="000000"/>
                </a:solidFill>
                <a:latin typeface="Roboto"/>
                <a:ea typeface="Roboto"/>
                <a:cs typeface="Roboto"/>
                <a:sym typeface="Roboto"/>
              </a:rPr>
              <a:t>6-hourly and 1-hourly requests need nothing new — 82 and 14 GB/yr, produced today</a:t>
            </a:r>
          </a:p>
        </p:txBody>
      </p:sp>
      <p:sp>
        <p:nvSpPr>
          <p:cNvPr id="1003" name="rc1004"/>
          <p:cNvSpPr/>
          <p:nvPr/>
        </p:nvSpPr>
        <p:spPr>
          <a:xfrm>
            <a:off x="777240" y="5504688"/>
            <a:ext cx="5577840" cy="457200"/>
          </a:xfrm>
          <a:prstGeom prst="roundRect">
            <a:avLst>
              <a:gd name="adj" fmla="val 16000"/>
            </a:avLst>
          </a:prstGeom>
          <a:solidFill>
            <a:srgbClr val="F1F4F9"/>
          </a:solidFill>
          <a:ln>
            <a:noFill/>
          </a:ln>
        </p:spPr>
        <p:txBody>
          <a:bodyPr/>
          <a:lstStyle/>
          <a:p>
            <a:pPr algn="l" rtl="0">
              <a:buNone/>
            </a:pPr>
          </a:p>
        </p:txBody>
      </p:sp>
      <p:sp>
        <p:nvSpPr>
          <p:cNvPr id="1005" name="tb1006"/>
          <p:cNvSpPr txBox="1"/>
          <p:nvPr/>
        </p:nvSpPr>
        <p:spPr>
          <a:xfrm>
            <a:off x="886968" y="5504688"/>
            <a:ext cx="5358384" cy="457200"/>
          </a:xfrm>
          <a:prstGeom prst="rect">
            <a:avLst/>
          </a:prstGeom>
          <a:noFill/>
          <a:ln>
            <a:noFill/>
          </a:ln>
        </p:spPr>
        <p:txBody>
          <a:bodyPr spcFirstLastPara="1" wrap="square" lIns="0" tIns="0" rIns="0" bIns="0" anchor="ctr" anchorCtr="0">
            <a:noAutofit/>
          </a:bodyPr>
          <a:lstStyle/>
          <a:p>
            <a:pPr marL="0" indent="0" algn="l" rtl="0">
              <a:lnSpc>
                <a:spcPct val="100000"/>
              </a:lnSpc>
              <a:spcBef>
                <a:spcPts val="0"/>
              </a:spcBef>
              <a:spcAft>
                <a:spcPts val="0"/>
              </a:spcAft>
              <a:buNone/>
            </a:pPr>
            <a:r>
              <a:rPr lang="en-GB" sz="1200" b="1" i="0">
                <a:solidFill>
                  <a:srgbClr val="1F3864"/>
                </a:solidFill>
                <a:latin typeface="Montserrat"/>
                <a:ea typeface="Montserrat"/>
                <a:cs typeface="Montserrat"/>
                <a:sym typeface="Montserrat"/>
              </a:rPr>
              <a:t>Trimming lever: </a:t>
            </a:r>
            <a:r>
              <a:rPr lang="en-GB" sz="1200" b="1" i="0">
                <a:solidFill>
                  <a:srgbClr val="ED7D31"/>
                </a:solidFill>
                <a:latin typeface="Montserrat"/>
                <a:ea typeface="Montserrat"/>
                <a:cs typeface="Montserrat"/>
                <a:sym typeface="Montserrat"/>
              </a:rPr>
              <a:t>ocean sub-daily 3-D output</a:t>
            </a:r>
          </a:p>
        </p:txBody>
      </p:sp>
      <p:sp>
        <p:nvSpPr>
          <p:cNvPr id="1007" name="tb1008"/>
          <p:cNvSpPr txBox="1"/>
          <p:nvPr/>
        </p:nvSpPr>
        <p:spPr>
          <a:xfrm>
            <a:off x="6812280" y="3346704"/>
            <a:ext cx="4599432" cy="329184"/>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600" b="1" i="0">
                <a:solidFill>
                  <a:srgbClr val="1F3864"/>
                </a:solidFill>
                <a:latin typeface="Montserrat"/>
                <a:ea typeface="Montserrat"/>
                <a:cs typeface="Montserrat"/>
                <a:sym typeface="Montserrat"/>
              </a:rPr>
              <a:t>GB per model-year</a:t>
            </a:r>
          </a:p>
        </p:txBody>
      </p:sp>
      <p:sp>
        <p:nvSpPr>
          <p:cNvPr id="1009" name="tb1010"/>
          <p:cNvSpPr txBox="1"/>
          <p:nvPr/>
        </p:nvSpPr>
        <p:spPr>
          <a:xfrm>
            <a:off x="6812280" y="3730752"/>
            <a:ext cx="4599432" cy="256032"/>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100" b="0" i="0">
                <a:solidFill>
                  <a:srgbClr val="595959"/>
                </a:solidFill>
                <a:latin typeface="Roboto"/>
                <a:ea typeface="Roboto"/>
                <a:cs typeface="Roboto"/>
                <a:sym typeface="Roboto"/>
              </a:rPr>
              <a:t>CMIP6 reference</a:t>
            </a:r>
          </a:p>
        </p:txBody>
      </p:sp>
      <p:sp>
        <p:nvSpPr>
          <p:cNvPr id="1011" name="rc1012"/>
          <p:cNvSpPr/>
          <p:nvPr/>
        </p:nvSpPr>
        <p:spPr>
          <a:xfrm>
            <a:off x="6812280" y="3986783"/>
            <a:ext cx="962526" cy="256032"/>
          </a:xfrm>
          <a:prstGeom prst="rect">
            <a:avLst/>
          </a:prstGeom>
          <a:solidFill>
            <a:srgbClr val="A5A5A5"/>
          </a:solidFill>
          <a:ln>
            <a:noFill/>
          </a:ln>
        </p:spPr>
        <p:txBody>
          <a:bodyPr/>
          <a:lstStyle/>
          <a:p>
            <a:pPr algn="l" rtl="0">
              <a:buNone/>
            </a:pPr>
          </a:p>
        </p:txBody>
      </p:sp>
      <p:sp>
        <p:nvSpPr>
          <p:cNvPr id="1013" name="tb1014"/>
          <p:cNvSpPr txBox="1"/>
          <p:nvPr/>
        </p:nvSpPr>
        <p:spPr>
          <a:xfrm>
            <a:off x="7829670" y="3968496"/>
            <a:ext cx="914400" cy="292608"/>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250" b="1" i="0">
                <a:solidFill>
                  <a:srgbClr val="1F3864"/>
                </a:solidFill>
                <a:latin typeface="Montserrat"/>
                <a:ea typeface="Montserrat"/>
                <a:cs typeface="Montserrat"/>
                <a:sym typeface="Montserrat"/>
              </a:rPr>
              <a:t>100</a:t>
            </a:r>
          </a:p>
        </p:txBody>
      </p:sp>
      <p:sp>
        <p:nvSpPr>
          <p:cNvPr id="1015" name="tb1016"/>
          <p:cNvSpPr txBox="1"/>
          <p:nvPr/>
        </p:nvSpPr>
        <p:spPr>
          <a:xfrm>
            <a:off x="6812280" y="4389120"/>
            <a:ext cx="4599432" cy="256032"/>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100" b="0" i="0">
                <a:solidFill>
                  <a:srgbClr val="595959"/>
                </a:solidFill>
                <a:latin typeface="Roboto"/>
                <a:ea typeface="Roboto"/>
                <a:cs typeface="Roboto"/>
                <a:sym typeface="Roboto"/>
              </a:rPr>
              <a:t>Produced today</a:t>
            </a:r>
          </a:p>
        </p:txBody>
      </p:sp>
      <p:sp>
        <p:nvSpPr>
          <p:cNvPr id="1017" name="rc1018"/>
          <p:cNvSpPr/>
          <p:nvPr/>
        </p:nvSpPr>
        <p:spPr>
          <a:xfrm>
            <a:off x="6812280" y="4645151"/>
            <a:ext cx="2050181" cy="256032"/>
          </a:xfrm>
          <a:prstGeom prst="rect">
            <a:avLst/>
          </a:prstGeom>
          <a:solidFill>
            <a:srgbClr val="4472C4"/>
          </a:solidFill>
          <a:ln>
            <a:noFill/>
          </a:ln>
        </p:spPr>
        <p:txBody>
          <a:bodyPr/>
          <a:lstStyle/>
          <a:p>
            <a:pPr algn="l" rtl="0">
              <a:buNone/>
            </a:pPr>
          </a:p>
        </p:txBody>
      </p:sp>
      <p:sp>
        <p:nvSpPr>
          <p:cNvPr id="1019" name="tb1020"/>
          <p:cNvSpPr txBox="1"/>
          <p:nvPr/>
        </p:nvSpPr>
        <p:spPr>
          <a:xfrm>
            <a:off x="8917325" y="4626864"/>
            <a:ext cx="914400" cy="292608"/>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250" b="1" i="0">
                <a:solidFill>
                  <a:srgbClr val="1F3864"/>
                </a:solidFill>
                <a:latin typeface="Montserrat"/>
                <a:ea typeface="Montserrat"/>
                <a:cs typeface="Montserrat"/>
                <a:sym typeface="Montserrat"/>
              </a:rPr>
              <a:t>213</a:t>
            </a:r>
          </a:p>
        </p:txBody>
      </p:sp>
      <p:sp>
        <p:nvSpPr>
          <p:cNvPr id="1021" name="tb1022"/>
          <p:cNvSpPr txBox="1"/>
          <p:nvPr/>
        </p:nvSpPr>
        <p:spPr>
          <a:xfrm>
            <a:off x="6812280" y="5047488"/>
            <a:ext cx="4599432" cy="256032"/>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100" b="0" i="0">
                <a:solidFill>
                  <a:srgbClr val="595959"/>
                </a:solidFill>
                <a:latin typeface="Roboto"/>
                <a:ea typeface="Roboto"/>
                <a:cs typeface="Roboto"/>
                <a:sym typeface="Roboto"/>
              </a:rPr>
              <a:t>Full request</a:t>
            </a:r>
          </a:p>
        </p:txBody>
      </p:sp>
      <p:sp>
        <p:nvSpPr>
          <p:cNvPr id="1023" name="rc1024"/>
          <p:cNvSpPr/>
          <p:nvPr/>
        </p:nvSpPr>
        <p:spPr>
          <a:xfrm>
            <a:off x="6812280" y="5303519"/>
            <a:ext cx="2050181" cy="256032"/>
          </a:xfrm>
          <a:prstGeom prst="rect">
            <a:avLst/>
          </a:prstGeom>
          <a:solidFill>
            <a:srgbClr val="4472C4"/>
          </a:solidFill>
          <a:ln>
            <a:noFill/>
          </a:ln>
        </p:spPr>
        <p:txBody>
          <a:bodyPr/>
          <a:lstStyle/>
          <a:p>
            <a:pPr algn="l" rtl="0">
              <a:buNone/>
            </a:pPr>
          </a:p>
        </p:txBody>
      </p:sp>
      <p:sp>
        <p:nvSpPr>
          <p:cNvPr id="1025" name="rc1026"/>
          <p:cNvSpPr/>
          <p:nvPr/>
        </p:nvSpPr>
        <p:spPr>
          <a:xfrm>
            <a:off x="8862461" y="5303519"/>
            <a:ext cx="2156058" cy="256032"/>
          </a:xfrm>
          <a:prstGeom prst="rect">
            <a:avLst/>
          </a:prstGeom>
          <a:solidFill>
            <a:srgbClr val="ED7D31"/>
          </a:solidFill>
          <a:ln>
            <a:noFill/>
          </a:ln>
        </p:spPr>
        <p:txBody>
          <a:bodyPr/>
          <a:lstStyle/>
          <a:p>
            <a:pPr algn="l" rtl="0">
              <a:buNone/>
            </a:pPr>
          </a:p>
        </p:txBody>
      </p:sp>
      <p:sp>
        <p:nvSpPr>
          <p:cNvPr id="1027" name="tb1028"/>
          <p:cNvSpPr txBox="1"/>
          <p:nvPr/>
        </p:nvSpPr>
        <p:spPr>
          <a:xfrm>
            <a:off x="11073384" y="5285231"/>
            <a:ext cx="914400" cy="292608"/>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250" b="1" i="0">
                <a:solidFill>
                  <a:srgbClr val="1F3864"/>
                </a:solidFill>
                <a:latin typeface="Montserrat"/>
                <a:ea typeface="Montserrat"/>
                <a:cs typeface="Montserrat"/>
                <a:sym typeface="Montserrat"/>
              </a:rPr>
              <a:t>437</a:t>
            </a:r>
          </a:p>
        </p:txBody>
      </p:sp>
      <p:sp>
        <p:nvSpPr>
          <p:cNvPr id="1029" name="tb1030"/>
          <p:cNvSpPr txBox="1"/>
          <p:nvPr/>
        </p:nvSpPr>
        <p:spPr>
          <a:xfrm>
            <a:off x="6812280" y="5742432"/>
            <a:ext cx="4599432" cy="274320"/>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000" b="0" i="1">
                <a:solidFill>
                  <a:srgbClr val="595959"/>
                </a:solidFill>
                <a:latin typeface="Roboto"/>
                <a:ea typeface="Roboto"/>
                <a:cs typeface="Roboto"/>
                <a:sym typeface="Roboto"/>
              </a:rPr>
              <a:t>blue = produced   ·   orange = new CMIP7 variables</a:t>
            </a:r>
          </a:p>
        </p:txBody>
      </p:sp>
      <p:sp>
        <p:nvSpPr>
          <p:cNvPr id="1031" name="tb1032"/>
          <p:cNvSpPr txBox="1"/>
          <p:nvPr/>
        </p:nvSpPr>
        <p:spPr>
          <a:xfrm>
            <a:off x="777240" y="6089904"/>
            <a:ext cx="10634472" cy="777240"/>
          </a:xfrm>
          <a:prstGeom prst="rect">
            <a:avLst/>
          </a:prstGeom>
          <a:noFill/>
          <a:ln>
            <a:noFill/>
          </a:ln>
        </p:spPr>
        <p:txBody>
          <a:bodyPr spcFirstLastPara="1" wrap="square" lIns="0" tIns="0" rIns="0" bIns="0" anchor="t" anchorCtr="0">
            <a:noAutofit/>
          </a:bodyPr>
          <a:lstStyle/>
          <a:p>
            <a:pPr marL="0" indent="0" algn="l" rtl="0">
              <a:lnSpc>
                <a:spcPct val="110000"/>
              </a:lnSpc>
              <a:spcBef>
                <a:spcPts val="0"/>
              </a:spcBef>
              <a:spcAft>
                <a:spcPts val="100"/>
              </a:spcAft>
              <a:buNone/>
            </a:pPr>
            <a:r>
              <a:rPr lang="en-GB" sz="1000" b="0" i="0">
                <a:solidFill>
                  <a:srgbClr val="595959"/>
                </a:solidFill>
                <a:latin typeface="Roboto"/>
                <a:ea typeface="Roboto"/>
                <a:cs typeface="Roboto"/>
                <a:sym typeface="Roboto"/>
              </a:rPr>
              <a:t>Grid: CAM/CLM spectral element ncol 48600 × L58, NEMO 360×291 × L75, float32; calibrated on a real B1850 run and validated against its files (thetao monthly 377 MB/yr, zos 5 MB/yr). Archived, deflated size ≈ half. 1 PB = 1024 TB = 1024² GB.</a:t>
            </a:r>
          </a:p>
          <a:p>
            <a:pPr marL="0" indent="0" algn="l" rtl="0">
              <a:lnSpc>
                <a:spcPct val="110000"/>
              </a:lnSpc>
              <a:spcBef>
                <a:spcPts val="0"/>
              </a:spcBef>
              <a:spcAft>
                <a:spcPts val="100"/>
              </a:spcAft>
              <a:buNone/>
            </a:pPr>
            <a:r>
              <a:rPr lang="en-GB" sz="1000" b="0" i="0">
                <a:solidFill>
                  <a:srgbClr val="595959"/>
                </a:solidFill>
                <a:latin typeface="Roboto"/>
                <a:ea typeface="Roboto"/>
                <a:cs typeface="Roboto"/>
                <a:sym typeface="Roboto"/>
              </a:rPr>
              <a:t>New CMIP7 variables are tracked as open rows in the per-component CMOR↔raw lookup tables (386 to resolve): fill the raw model name and the variable enters the production list automatically.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25"/>
          <p:cNvPicPr preferRelativeResize="0"/>
          <p:nvPr/>
        </p:nvPicPr>
        <p:blipFill rotWithShape="1">
          <a:blip r:embed="rId3">
            <a:alphaModFix/>
          </a:blip>
          <a:srcRect/>
          <a:stretch/>
        </p:blipFill>
        <p:spPr>
          <a:xfrm>
            <a:off x="-11274" y="0"/>
            <a:ext cx="12203273" cy="1025480"/>
          </a:xfrm>
          <a:prstGeom prst="rect">
            <a:avLst/>
          </a:prstGeom>
          <a:noFill/>
          <a:ln>
            <a:noFill/>
          </a:ln>
        </p:spPr>
      </p:pic>
      <p:sp>
        <p:nvSpPr>
          <p:cNvPr id="245" name="Google Shape;245;p25"/>
          <p:cNvSpPr txBox="1"/>
          <p:nvPr/>
        </p:nvSpPr>
        <p:spPr>
          <a:xfrm>
            <a:off x="672531" y="361025"/>
            <a:ext cx="8743800" cy="5220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400"/>
              <a:buFont typeface="Calibri"/>
              <a:buNone/>
            </a:pPr>
            <a:r>
              <a:rPr lang="it-IT" sz="3200" b="1">
                <a:solidFill>
                  <a:schemeClr val="lt1"/>
                </a:solidFill>
                <a:latin typeface="Montserrat"/>
                <a:ea typeface="Montserrat"/>
                <a:cs typeface="Montserrat"/>
                <a:sym typeface="Montserrat"/>
              </a:rPr>
              <a:t>CMCC AR7-FT Data Request (1)</a:t>
            </a:r>
            <a:endParaRPr sz="3200" b="0" i="0" u="none" strike="noStrike" cap="none">
              <a:solidFill>
                <a:schemeClr val="lt1"/>
              </a:solidFill>
              <a:latin typeface="Arial"/>
              <a:ea typeface="Arial"/>
              <a:cs typeface="Arial"/>
              <a:sym typeface="Arial"/>
            </a:endParaRPr>
          </a:p>
        </p:txBody>
      </p:sp>
      <p:sp>
        <p:nvSpPr>
          <p:cNvPr id="246" name="Google Shape;246;p25"/>
          <p:cNvSpPr/>
          <p:nvPr/>
        </p:nvSpPr>
        <p:spPr>
          <a:xfrm>
            <a:off x="-151579" y="1019517"/>
            <a:ext cx="12483900" cy="456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B0F0"/>
              </a:solidFill>
              <a:latin typeface="Arial"/>
              <a:ea typeface="Arial"/>
              <a:cs typeface="Arial"/>
              <a:sym typeface="Arial"/>
            </a:endParaRPr>
          </a:p>
        </p:txBody>
      </p:sp>
      <p:sp>
        <p:nvSpPr>
          <p:cNvPr id="247" name="Google Shape;247;p25"/>
          <p:cNvSpPr/>
          <p:nvPr/>
        </p:nvSpPr>
        <p:spPr>
          <a:xfrm>
            <a:off x="-11274" y="6786545"/>
            <a:ext cx="12203400" cy="891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248" name="Google Shape;248;p25" descr="Immagine che contiene Carattere, Elementi grafici, logo, simbolo  Descrizione generata automaticamente"/>
          <p:cNvPicPr preferRelativeResize="0"/>
          <p:nvPr/>
        </p:nvPicPr>
        <p:blipFill rotWithShape="1">
          <a:blip r:embed="rId4">
            <a:alphaModFix/>
          </a:blip>
          <a:srcRect/>
          <a:stretch/>
        </p:blipFill>
        <p:spPr>
          <a:xfrm>
            <a:off x="9727799" y="207657"/>
            <a:ext cx="1978358" cy="675420"/>
          </a:xfrm>
          <a:prstGeom prst="rect">
            <a:avLst/>
          </a:prstGeom>
          <a:noFill/>
          <a:ln>
            <a:noFill/>
          </a:ln>
        </p:spPr>
      </p:pic>
      <p:sp>
        <p:nvSpPr>
          <p:cNvPr id="901" name="tb902"/>
          <p:cNvSpPr txBox="1"/>
          <p:nvPr/>
        </p:nvSpPr>
        <p:spPr>
          <a:xfrm>
            <a:off x="777240" y="1133856"/>
            <a:ext cx="10634472" cy="310896"/>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250" b="0" i="1">
                <a:solidFill>
                  <a:srgbClr val="595959"/>
                </a:solidFill>
                <a:latin typeface="Roboto"/>
                <a:ea typeface="Roboto"/>
                <a:cs typeface="Roboto"/>
                <a:sym typeface="Roboto"/>
              </a:rPr>
              <a:t>The 30 opportunities of the Data Request v1.2.2.4 selected by the CMCC Divisions — 21 High and 9 Medium priority, 117 variable groups in total</a:t>
            </a:r>
          </a:p>
        </p:txBody>
      </p:sp>
      <p:sp>
        <p:nvSpPr>
          <p:cNvPr id="903" name="tb904"/>
          <p:cNvSpPr txBox="1"/>
          <p:nvPr/>
        </p:nvSpPr>
        <p:spPr>
          <a:xfrm>
            <a:off x="777240" y="1463040"/>
            <a:ext cx="10634472" cy="274320"/>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0"/>
              </a:spcAft>
              <a:buNone/>
            </a:pPr>
            <a:r>
              <a:rPr lang="en-GB" sz="1000" b="0" i="1">
                <a:solidFill>
                  <a:srgbClr val="595959"/>
                </a:solidFill>
                <a:latin typeface="Roboto"/>
                <a:ea typeface="Roboto"/>
                <a:cs typeface="Roboto"/>
                <a:sym typeface="Roboto"/>
              </a:rPr>
              <a:t>High priority in black, Medium in grey. An opportunity is a science-driven bundle of variable groups defined by the Data Request.</a:t>
            </a:r>
          </a:p>
        </p:txBody>
      </p:sp>
      <p:sp>
        <p:nvSpPr>
          <p:cNvPr id="905" name="tb906"/>
          <p:cNvSpPr txBox="1"/>
          <p:nvPr/>
        </p:nvSpPr>
        <p:spPr>
          <a:xfrm>
            <a:off x="777240" y="1810512"/>
            <a:ext cx="3392424" cy="3154680"/>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300"/>
              </a:spcAft>
              <a:buNone/>
            </a:pPr>
            <a:r>
              <a:rPr lang="en-GB" sz="1250" b="1" i="0">
                <a:solidFill>
                  <a:srgbClr val="1F3864"/>
                </a:solidFill>
                <a:latin typeface="Montserrat"/>
                <a:ea typeface="Montserrat"/>
                <a:cs typeface="Montserrat"/>
                <a:sym typeface="Montserrat"/>
              </a:rPr>
              <a:t>ESYDA  (12)</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Baseline Climate Variables for Earth System Modelling</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Benchmarking and Attributing Changes to Global Carbon and other Biogeochemical Cycles</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Changes in marine biogeochemical cycles and ecosystem processes</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Constructing a Global Carbon Budget</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Earth's Energy Budget</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Ocean changes, drivers and impacts</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Role of fire in the Earth system</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Sea ice changes, drivers and impacts</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Terrestrial Biodiversity</a:t>
            </a:r>
          </a:p>
          <a:p>
            <a:pPr marL="152400" indent="-152400" algn="l" rtl="0">
              <a:lnSpc>
                <a:spcPct val="102000"/>
              </a:lnSpc>
              <a:spcBef>
                <a:spcPts val="0"/>
              </a:spcBef>
              <a:spcAft>
                <a:spcPts val="280"/>
              </a:spcAft>
              <a:buClr>
                <a:srgbClr val="A5A5A5"/>
              </a:buClr>
              <a:buFont typeface="Arial"/>
              <a:buChar char="•"/>
            </a:pPr>
            <a:r>
              <a:rPr lang="en-GB" sz="1050" b="0" i="0">
                <a:solidFill>
                  <a:srgbClr val="595959"/>
                </a:solidFill>
                <a:latin typeface="Roboto"/>
                <a:ea typeface="Roboto"/>
                <a:cs typeface="Roboto"/>
                <a:sym typeface="Roboto"/>
              </a:rPr>
              <a:t>Accurate assessment of land-atmosphere coupling</a:t>
            </a:r>
          </a:p>
          <a:p>
            <a:pPr marL="152400" indent="-152400" algn="l" rtl="0">
              <a:lnSpc>
                <a:spcPct val="102000"/>
              </a:lnSpc>
              <a:spcBef>
                <a:spcPts val="0"/>
              </a:spcBef>
              <a:spcAft>
                <a:spcPts val="280"/>
              </a:spcAft>
              <a:buClr>
                <a:srgbClr val="A5A5A5"/>
              </a:buClr>
              <a:buFont typeface="Arial"/>
              <a:buChar char="•"/>
            </a:pPr>
            <a:r>
              <a:rPr lang="en-GB" sz="1050" b="0" i="0">
                <a:solidFill>
                  <a:srgbClr val="595959"/>
                </a:solidFill>
                <a:latin typeface="Roboto"/>
                <a:ea typeface="Roboto"/>
                <a:cs typeface="Roboto"/>
                <a:sym typeface="Roboto"/>
              </a:rPr>
              <a:t>Climate impacts on marine biodiversity and ecosystems</a:t>
            </a:r>
          </a:p>
          <a:p>
            <a:pPr marL="152400" indent="-152400" algn="l" rtl="0">
              <a:lnSpc>
                <a:spcPct val="102000"/>
              </a:lnSpc>
              <a:spcBef>
                <a:spcPts val="0"/>
              </a:spcBef>
              <a:spcAft>
                <a:spcPts val="280"/>
              </a:spcAft>
              <a:buClr>
                <a:srgbClr val="A5A5A5"/>
              </a:buClr>
              <a:buFont typeface="Arial"/>
              <a:buChar char="•"/>
            </a:pPr>
            <a:r>
              <a:rPr lang="en-GB" sz="1050" b="0" i="0">
                <a:solidFill>
                  <a:srgbClr val="595959"/>
                </a:solidFill>
                <a:latin typeface="Roboto"/>
                <a:ea typeface="Roboto"/>
                <a:cs typeface="Roboto"/>
                <a:sym typeface="Roboto"/>
              </a:rPr>
              <a:t>Ocean Extremes</a:t>
            </a:r>
          </a:p>
        </p:txBody>
      </p:sp>
      <p:sp>
        <p:nvSpPr>
          <p:cNvPr id="907" name="tb908"/>
          <p:cNvSpPr txBox="1"/>
          <p:nvPr/>
        </p:nvSpPr>
        <p:spPr>
          <a:xfrm>
            <a:off x="4398264" y="1810512"/>
            <a:ext cx="3392424" cy="3154680"/>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300"/>
              </a:spcAft>
              <a:buNone/>
            </a:pPr>
            <a:r>
              <a:rPr lang="en-GB" sz="1250" b="1" i="0">
                <a:solidFill>
                  <a:srgbClr val="1F3864"/>
                </a:solidFill>
                <a:latin typeface="Montserrat"/>
                <a:ea typeface="Montserrat"/>
                <a:cs typeface="Montserrat"/>
                <a:sym typeface="Montserrat"/>
              </a:rPr>
              <a:t>ESYDA + ICR  (4)</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Assessments for Hydrological Processes, Water Resources, and Freshwater Systems</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Land use change</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Plant Phenology</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Water cycle/budget assessment</a:t>
            </a:r>
          </a:p>
          <a:p>
            <a:pPr marL="0" indent="0" algn="l" rtl="0">
              <a:lnSpc>
                <a:spcPct val="100000"/>
              </a:lnSpc>
              <a:spcBef>
                <a:spcPts val="0"/>
              </a:spcBef>
              <a:spcAft>
                <a:spcPts val="0"/>
              </a:spcAft>
              <a:buNone/>
            </a:pPr>
            <a:r>
              <a:rPr lang="en-GB" sz="700" b="0" i="0">
                <a:solidFill>
                  <a:srgbClr val="000000"/>
                </a:solidFill>
                <a:latin typeface="Roboto"/>
                <a:ea typeface="Roboto"/>
                <a:cs typeface="Roboto"/>
                <a:sym typeface="Roboto"/>
              </a:rPr>
              <a:t> </a:t>
            </a:r>
          </a:p>
          <a:p>
            <a:pPr marL="0" indent="0" algn="l" rtl="0">
              <a:lnSpc>
                <a:spcPct val="100000"/>
              </a:lnSpc>
              <a:spcBef>
                <a:spcPts val="0"/>
              </a:spcBef>
              <a:spcAft>
                <a:spcPts val="300"/>
              </a:spcAft>
              <a:buNone/>
            </a:pPr>
            <a:r>
              <a:rPr lang="en-GB" sz="1250" b="1" i="0">
                <a:solidFill>
                  <a:srgbClr val="1F3864"/>
                </a:solidFill>
                <a:latin typeface="Montserrat"/>
                <a:ea typeface="Montserrat"/>
                <a:cs typeface="Montserrat"/>
                <a:sym typeface="Montserrat"/>
              </a:rPr>
              <a:t>CLIVAP  (6)</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Atmospheric dynamics and variability</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Detection and Attribution</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Diagnosing temperature variability and extremes</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Dynamical Downscaling (CORDEX)</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Multi-annual-to-decadal predictability of the Earth System and risk assessment of climate extremes</a:t>
            </a:r>
          </a:p>
          <a:p>
            <a:pPr marL="152400" indent="-152400" algn="l" rtl="0">
              <a:lnSpc>
                <a:spcPct val="102000"/>
              </a:lnSpc>
              <a:spcBef>
                <a:spcPts val="0"/>
              </a:spcBef>
              <a:spcAft>
                <a:spcPts val="280"/>
              </a:spcAft>
              <a:buClr>
                <a:srgbClr val="A5A5A5"/>
              </a:buClr>
              <a:buFont typeface="Arial"/>
              <a:buChar char="•"/>
            </a:pPr>
            <a:r>
              <a:rPr lang="en-GB" sz="1050" b="0" i="0">
                <a:solidFill>
                  <a:srgbClr val="595959"/>
                </a:solidFill>
                <a:latin typeface="Roboto"/>
                <a:ea typeface="Roboto"/>
                <a:cs typeface="Roboto"/>
                <a:sym typeface="Roboto"/>
              </a:rPr>
              <a:t>Robust Risk Assessment of Tipping Points</a:t>
            </a:r>
          </a:p>
        </p:txBody>
      </p:sp>
      <p:sp>
        <p:nvSpPr>
          <p:cNvPr id="909" name="tb910"/>
          <p:cNvSpPr txBox="1"/>
          <p:nvPr/>
        </p:nvSpPr>
        <p:spPr>
          <a:xfrm>
            <a:off x="8019288" y="1810512"/>
            <a:ext cx="3392424" cy="3154680"/>
          </a:xfrm>
          <a:prstGeom prst="rect">
            <a:avLst/>
          </a:prstGeom>
          <a:noFill/>
          <a:ln>
            <a:noFill/>
          </a:ln>
        </p:spPr>
        <p:txBody>
          <a:bodyPr spcFirstLastPara="1" wrap="square" lIns="0" tIns="0" rIns="0" bIns="0" anchor="t" anchorCtr="0">
            <a:noAutofit/>
          </a:bodyPr>
          <a:lstStyle/>
          <a:p>
            <a:pPr marL="0" indent="0" algn="l" rtl="0">
              <a:lnSpc>
                <a:spcPct val="100000"/>
              </a:lnSpc>
              <a:spcBef>
                <a:spcPts val="0"/>
              </a:spcBef>
              <a:spcAft>
                <a:spcPts val="300"/>
              </a:spcAft>
              <a:buNone/>
            </a:pPr>
            <a:r>
              <a:rPr lang="en-GB" sz="1250" b="1" i="0">
                <a:solidFill>
                  <a:srgbClr val="1F3864"/>
                </a:solidFill>
                <a:latin typeface="Montserrat"/>
                <a:ea typeface="Montserrat"/>
                <a:cs typeface="Montserrat"/>
                <a:sym typeface="Montserrat"/>
              </a:rPr>
              <a:t>ICR  (6)</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Agriculture and Food System Impacts</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Vulnerability of urban systems, infrastructure and populations</a:t>
            </a:r>
          </a:p>
          <a:p>
            <a:pPr marL="152400" indent="-152400" algn="l" rtl="0">
              <a:lnSpc>
                <a:spcPct val="102000"/>
              </a:lnSpc>
              <a:spcBef>
                <a:spcPts val="0"/>
              </a:spcBef>
              <a:spcAft>
                <a:spcPts val="280"/>
              </a:spcAft>
              <a:buClr>
                <a:srgbClr val="4472C4"/>
              </a:buClr>
              <a:buFont typeface="Arial"/>
              <a:buChar char="•"/>
            </a:pPr>
            <a:r>
              <a:rPr lang="en-GB" sz="1050" b="0" i="0">
                <a:solidFill>
                  <a:srgbClr val="000000"/>
                </a:solidFill>
                <a:latin typeface="Roboto"/>
                <a:ea typeface="Roboto"/>
                <a:cs typeface="Roboto"/>
                <a:sym typeface="Roboto"/>
              </a:rPr>
              <a:t>Water Security and Freshwater Ecosystem Services</a:t>
            </a:r>
          </a:p>
          <a:p>
            <a:pPr marL="152400" indent="-152400" algn="l" rtl="0">
              <a:lnSpc>
                <a:spcPct val="102000"/>
              </a:lnSpc>
              <a:spcBef>
                <a:spcPts val="0"/>
              </a:spcBef>
              <a:spcAft>
                <a:spcPts val="280"/>
              </a:spcAft>
              <a:buClr>
                <a:srgbClr val="A5A5A5"/>
              </a:buClr>
              <a:buFont typeface="Arial"/>
              <a:buChar char="•"/>
            </a:pPr>
            <a:r>
              <a:rPr lang="en-GB" sz="1050" b="0" i="0">
                <a:solidFill>
                  <a:srgbClr val="595959"/>
                </a:solidFill>
                <a:latin typeface="Roboto"/>
                <a:ea typeface="Roboto"/>
                <a:cs typeface="Roboto"/>
                <a:sym typeface="Roboto"/>
              </a:rPr>
              <a:t>Bias-adjustment for impacts modeling and analysis</a:t>
            </a:r>
          </a:p>
          <a:p>
            <a:pPr marL="152400" indent="-152400" algn="l" rtl="0">
              <a:lnSpc>
                <a:spcPct val="102000"/>
              </a:lnSpc>
              <a:spcBef>
                <a:spcPts val="0"/>
              </a:spcBef>
              <a:spcAft>
                <a:spcPts val="280"/>
              </a:spcAft>
              <a:buClr>
                <a:srgbClr val="A5A5A5"/>
              </a:buClr>
              <a:buFont typeface="Arial"/>
              <a:buChar char="•"/>
            </a:pPr>
            <a:r>
              <a:rPr lang="en-GB" sz="1050" b="0" i="0">
                <a:solidFill>
                  <a:srgbClr val="595959"/>
                </a:solidFill>
                <a:latin typeface="Roboto"/>
                <a:ea typeface="Roboto"/>
                <a:cs typeface="Roboto"/>
                <a:sym typeface="Roboto"/>
              </a:rPr>
              <a:t>Impacts of climate change on aviation</a:t>
            </a:r>
          </a:p>
          <a:p>
            <a:pPr marL="152400" indent="-152400" algn="l" rtl="0">
              <a:lnSpc>
                <a:spcPct val="102000"/>
              </a:lnSpc>
              <a:spcBef>
                <a:spcPts val="0"/>
              </a:spcBef>
              <a:spcAft>
                <a:spcPts val="280"/>
              </a:spcAft>
              <a:buClr>
                <a:srgbClr val="A5A5A5"/>
              </a:buClr>
              <a:buFont typeface="Arial"/>
              <a:buChar char="•"/>
            </a:pPr>
            <a:r>
              <a:rPr lang="en-GB" sz="1050" b="0" i="0">
                <a:solidFill>
                  <a:srgbClr val="595959"/>
                </a:solidFill>
                <a:latin typeface="Roboto"/>
                <a:ea typeface="Roboto"/>
                <a:cs typeface="Roboto"/>
                <a:sym typeface="Roboto"/>
              </a:rPr>
              <a:t>Impacts of climate change on transport infrastructure</a:t>
            </a:r>
          </a:p>
          <a:p>
            <a:pPr marL="0" indent="0" algn="l" rtl="0">
              <a:lnSpc>
                <a:spcPct val="100000"/>
              </a:lnSpc>
              <a:spcBef>
                <a:spcPts val="0"/>
              </a:spcBef>
              <a:spcAft>
                <a:spcPts val="0"/>
              </a:spcAft>
              <a:buNone/>
            </a:pPr>
            <a:r>
              <a:rPr lang="en-GB" sz="700" b="0" i="0">
                <a:solidFill>
                  <a:srgbClr val="000000"/>
                </a:solidFill>
                <a:latin typeface="Roboto"/>
                <a:ea typeface="Roboto"/>
                <a:cs typeface="Roboto"/>
                <a:sym typeface="Roboto"/>
              </a:rPr>
              <a:t> </a:t>
            </a:r>
          </a:p>
          <a:p>
            <a:pPr marL="0" indent="0" algn="l" rtl="0">
              <a:lnSpc>
                <a:spcPct val="100000"/>
              </a:lnSpc>
              <a:spcBef>
                <a:spcPts val="0"/>
              </a:spcBef>
              <a:spcAft>
                <a:spcPts val="300"/>
              </a:spcAft>
              <a:buNone/>
            </a:pPr>
            <a:r>
              <a:rPr lang="en-GB" sz="1250" b="1" i="0">
                <a:solidFill>
                  <a:srgbClr val="1F3864"/>
                </a:solidFill>
                <a:latin typeface="Montserrat"/>
                <a:ea typeface="Montserrat"/>
                <a:cs typeface="Montserrat"/>
                <a:sym typeface="Montserrat"/>
              </a:rPr>
              <a:t>EIEE  (2)</a:t>
            </a:r>
          </a:p>
          <a:p>
            <a:pPr marL="152400" indent="-152400" algn="l" rtl="0">
              <a:lnSpc>
                <a:spcPct val="102000"/>
              </a:lnSpc>
              <a:spcBef>
                <a:spcPts val="0"/>
              </a:spcBef>
              <a:spcAft>
                <a:spcPts val="280"/>
              </a:spcAft>
              <a:buClr>
                <a:srgbClr val="A5A5A5"/>
              </a:buClr>
              <a:buFont typeface="Arial"/>
              <a:buChar char="•"/>
            </a:pPr>
            <a:r>
              <a:rPr lang="en-GB" sz="1050" b="0" i="0">
                <a:solidFill>
                  <a:srgbClr val="595959"/>
                </a:solidFill>
                <a:latin typeface="Roboto"/>
                <a:ea typeface="Roboto"/>
                <a:cs typeface="Roboto"/>
                <a:sym typeface="Roboto"/>
              </a:rPr>
              <a:t>Energy System Impacts</a:t>
            </a:r>
          </a:p>
          <a:p>
            <a:pPr marL="152400" indent="-152400" algn="l" rtl="0">
              <a:lnSpc>
                <a:spcPct val="102000"/>
              </a:lnSpc>
              <a:spcBef>
                <a:spcPts val="0"/>
              </a:spcBef>
              <a:spcAft>
                <a:spcPts val="280"/>
              </a:spcAft>
              <a:buClr>
                <a:srgbClr val="A5A5A5"/>
              </a:buClr>
              <a:buFont typeface="Arial"/>
              <a:buChar char="•"/>
            </a:pPr>
            <a:r>
              <a:rPr lang="en-GB" sz="1050" b="0" i="0">
                <a:solidFill>
                  <a:srgbClr val="595959"/>
                </a:solidFill>
                <a:latin typeface="Roboto"/>
                <a:ea typeface="Roboto"/>
                <a:cs typeface="Roboto"/>
                <a:sym typeface="Roboto"/>
              </a:rPr>
              <a:t>Health Impacts</a:t>
            </a:r>
          </a:p>
        </p:txBody>
      </p:sp>
      <p:sp>
        <p:nvSpPr>
          <p:cNvPr id="911" name="rc912"/>
          <p:cNvSpPr/>
          <p:nvPr/>
        </p:nvSpPr>
        <p:spPr>
          <a:xfrm>
            <a:off x="777240" y="5029200"/>
            <a:ext cx="2505456" cy="841248"/>
          </a:xfrm>
          <a:prstGeom prst="roundRect">
            <a:avLst>
              <a:gd name="adj" fmla="val 8695"/>
            </a:avLst>
          </a:prstGeom>
          <a:solidFill>
            <a:srgbClr val="F1F4F9"/>
          </a:solidFill>
          <a:ln>
            <a:noFill/>
          </a:ln>
        </p:spPr>
        <p:txBody>
          <a:bodyPr/>
          <a:lstStyle/>
          <a:p>
            <a:pPr algn="l" rtl="0">
              <a:buNone/>
            </a:pPr>
          </a:p>
        </p:txBody>
      </p:sp>
      <p:sp>
        <p:nvSpPr>
          <p:cNvPr id="913" name="tb914"/>
          <p:cNvSpPr txBox="1"/>
          <p:nvPr/>
        </p:nvSpPr>
        <p:spPr>
          <a:xfrm>
            <a:off x="832103" y="5084064"/>
            <a:ext cx="2395728" cy="768096"/>
          </a:xfrm>
          <a:prstGeom prst="rect">
            <a:avLst/>
          </a:prstGeom>
          <a:noFill/>
          <a:ln>
            <a:noFill/>
          </a:ln>
        </p:spPr>
        <p:txBody>
          <a:bodyPr spcFirstLastPara="1" wrap="square" lIns="109728" tIns="109728" rIns="109728" bIns="109728" anchor="t" anchorCtr="0">
            <a:noAutofit/>
          </a:bodyPr>
          <a:lstStyle/>
          <a:p>
            <a:pPr marL="0" indent="0" algn="l" rtl="0">
              <a:lnSpc>
                <a:spcPct val="100000"/>
              </a:lnSpc>
              <a:spcBef>
                <a:spcPts val="0"/>
              </a:spcBef>
              <a:spcAft>
                <a:spcPts val="180"/>
              </a:spcAft>
              <a:buNone/>
            </a:pPr>
            <a:r>
              <a:rPr lang="en-GB" sz="1250" b="1" i="0">
                <a:solidFill>
                  <a:srgbClr val="1F3864"/>
                </a:solidFill>
                <a:latin typeface="Montserrat"/>
                <a:ea typeface="Montserrat"/>
                <a:cs typeface="Montserrat"/>
                <a:sym typeface="Montserrat"/>
              </a:rPr>
              <a:t>ESYDA</a:t>
            </a:r>
          </a:p>
          <a:p>
            <a:pPr marL="0" indent="0" algn="l" rtl="0">
              <a:lnSpc>
                <a:spcPct val="100000"/>
              </a:lnSpc>
              <a:spcBef>
                <a:spcPts val="0"/>
              </a:spcBef>
              <a:spcAft>
                <a:spcPts val="60"/>
              </a:spcAft>
              <a:buNone/>
            </a:pPr>
            <a:r>
              <a:rPr lang="en-GB" sz="950" b="0" i="0">
                <a:solidFill>
                  <a:srgbClr val="595959"/>
                </a:solidFill>
                <a:latin typeface="Roboto"/>
                <a:ea typeface="Roboto"/>
                <a:cs typeface="Roboto"/>
                <a:sym typeface="Roboto"/>
              </a:rPr>
              <a:t>16 opportunities · 544 variables</a:t>
            </a:r>
          </a:p>
          <a:p>
            <a:pPr marL="0" indent="0" algn="l" rtl="0">
              <a:lnSpc>
                <a:spcPct val="100000"/>
              </a:lnSpc>
              <a:spcBef>
                <a:spcPts val="0"/>
              </a:spcBef>
              <a:spcAft>
                <a:spcPts val="0"/>
              </a:spcAft>
              <a:buNone/>
            </a:pPr>
            <a:r>
              <a:rPr lang="en-GB" sz="950" b="0" i="0">
                <a:solidFill>
                  <a:srgbClr val="ED7D31"/>
                </a:solidFill>
                <a:latin typeface="Roboto"/>
                <a:ea typeface="Roboto"/>
                <a:cs typeface="Roboto"/>
                <a:sym typeface="Roboto"/>
              </a:rPr>
              <a:t>232 new CMIP7 variables</a:t>
            </a:r>
          </a:p>
        </p:txBody>
      </p:sp>
      <p:sp>
        <p:nvSpPr>
          <p:cNvPr id="915" name="rc916"/>
          <p:cNvSpPr/>
          <p:nvPr/>
        </p:nvSpPr>
        <p:spPr>
          <a:xfrm>
            <a:off x="3483864" y="5029200"/>
            <a:ext cx="2505456" cy="841248"/>
          </a:xfrm>
          <a:prstGeom prst="roundRect">
            <a:avLst>
              <a:gd name="adj" fmla="val 8695"/>
            </a:avLst>
          </a:prstGeom>
          <a:solidFill>
            <a:srgbClr val="F1F4F9"/>
          </a:solidFill>
          <a:ln>
            <a:noFill/>
          </a:ln>
        </p:spPr>
        <p:txBody>
          <a:bodyPr/>
          <a:lstStyle/>
          <a:p>
            <a:pPr algn="l" rtl="0">
              <a:buNone/>
            </a:pPr>
          </a:p>
        </p:txBody>
      </p:sp>
      <p:sp>
        <p:nvSpPr>
          <p:cNvPr id="917" name="tb918"/>
          <p:cNvSpPr txBox="1"/>
          <p:nvPr/>
        </p:nvSpPr>
        <p:spPr>
          <a:xfrm>
            <a:off x="3538728" y="5084064"/>
            <a:ext cx="2395728" cy="768096"/>
          </a:xfrm>
          <a:prstGeom prst="rect">
            <a:avLst/>
          </a:prstGeom>
          <a:noFill/>
          <a:ln>
            <a:noFill/>
          </a:ln>
        </p:spPr>
        <p:txBody>
          <a:bodyPr spcFirstLastPara="1" wrap="square" lIns="109728" tIns="109728" rIns="109728" bIns="109728" anchor="t" anchorCtr="0">
            <a:noAutofit/>
          </a:bodyPr>
          <a:lstStyle/>
          <a:p>
            <a:pPr marL="0" indent="0" algn="l" rtl="0">
              <a:lnSpc>
                <a:spcPct val="100000"/>
              </a:lnSpc>
              <a:spcBef>
                <a:spcPts val="0"/>
              </a:spcBef>
              <a:spcAft>
                <a:spcPts val="180"/>
              </a:spcAft>
              <a:buNone/>
            </a:pPr>
            <a:r>
              <a:rPr lang="en-GB" sz="1250" b="1" i="0">
                <a:solidFill>
                  <a:srgbClr val="1F3864"/>
                </a:solidFill>
                <a:latin typeface="Montserrat"/>
                <a:ea typeface="Montserrat"/>
                <a:cs typeface="Montserrat"/>
                <a:sym typeface="Montserrat"/>
              </a:rPr>
              <a:t>CLIVAP</a:t>
            </a:r>
          </a:p>
          <a:p>
            <a:pPr marL="0" indent="0" algn="l" rtl="0">
              <a:lnSpc>
                <a:spcPct val="100000"/>
              </a:lnSpc>
              <a:spcBef>
                <a:spcPts val="0"/>
              </a:spcBef>
              <a:spcAft>
                <a:spcPts val="60"/>
              </a:spcAft>
              <a:buNone/>
            </a:pPr>
            <a:r>
              <a:rPr lang="en-GB" sz="950" b="0" i="0">
                <a:solidFill>
                  <a:srgbClr val="595959"/>
                </a:solidFill>
                <a:latin typeface="Roboto"/>
                <a:ea typeface="Roboto"/>
                <a:cs typeface="Roboto"/>
                <a:sym typeface="Roboto"/>
              </a:rPr>
              <a:t>6 opportunities · 270 variables</a:t>
            </a:r>
          </a:p>
          <a:p>
            <a:pPr marL="0" indent="0" algn="l" rtl="0">
              <a:lnSpc>
                <a:spcPct val="100000"/>
              </a:lnSpc>
              <a:spcBef>
                <a:spcPts val="0"/>
              </a:spcBef>
              <a:spcAft>
                <a:spcPts val="0"/>
              </a:spcAft>
              <a:buNone/>
            </a:pPr>
            <a:r>
              <a:rPr lang="en-GB" sz="950" b="0" i="0">
                <a:solidFill>
                  <a:srgbClr val="ED7D31"/>
                </a:solidFill>
                <a:latin typeface="Roboto"/>
                <a:ea typeface="Roboto"/>
                <a:cs typeface="Roboto"/>
                <a:sym typeface="Roboto"/>
              </a:rPr>
              <a:t>95 new CMIP7 variables</a:t>
            </a:r>
          </a:p>
        </p:txBody>
      </p:sp>
      <p:sp>
        <p:nvSpPr>
          <p:cNvPr id="919" name="rc920"/>
          <p:cNvSpPr/>
          <p:nvPr/>
        </p:nvSpPr>
        <p:spPr>
          <a:xfrm>
            <a:off x="6190488" y="5029200"/>
            <a:ext cx="2505456" cy="841248"/>
          </a:xfrm>
          <a:prstGeom prst="roundRect">
            <a:avLst>
              <a:gd name="adj" fmla="val 8695"/>
            </a:avLst>
          </a:prstGeom>
          <a:solidFill>
            <a:srgbClr val="F1F4F9"/>
          </a:solidFill>
          <a:ln>
            <a:noFill/>
          </a:ln>
        </p:spPr>
        <p:txBody>
          <a:bodyPr/>
          <a:lstStyle/>
          <a:p>
            <a:pPr algn="l" rtl="0">
              <a:buNone/>
            </a:pPr>
          </a:p>
        </p:txBody>
      </p:sp>
      <p:sp>
        <p:nvSpPr>
          <p:cNvPr id="921" name="tb922"/>
          <p:cNvSpPr txBox="1"/>
          <p:nvPr/>
        </p:nvSpPr>
        <p:spPr>
          <a:xfrm>
            <a:off x="6245352" y="5084064"/>
            <a:ext cx="2395728" cy="768096"/>
          </a:xfrm>
          <a:prstGeom prst="rect">
            <a:avLst/>
          </a:prstGeom>
          <a:noFill/>
          <a:ln>
            <a:noFill/>
          </a:ln>
        </p:spPr>
        <p:txBody>
          <a:bodyPr spcFirstLastPara="1" wrap="square" lIns="109728" tIns="109728" rIns="109728" bIns="109728" anchor="t" anchorCtr="0">
            <a:noAutofit/>
          </a:bodyPr>
          <a:lstStyle/>
          <a:p>
            <a:pPr marL="0" indent="0" algn="l" rtl="0">
              <a:lnSpc>
                <a:spcPct val="100000"/>
              </a:lnSpc>
              <a:spcBef>
                <a:spcPts val="0"/>
              </a:spcBef>
              <a:spcAft>
                <a:spcPts val="180"/>
              </a:spcAft>
              <a:buNone/>
            </a:pPr>
            <a:r>
              <a:rPr lang="en-GB" sz="1250" b="1" i="0">
                <a:solidFill>
                  <a:srgbClr val="1F3864"/>
                </a:solidFill>
                <a:latin typeface="Montserrat"/>
                <a:ea typeface="Montserrat"/>
                <a:cs typeface="Montserrat"/>
                <a:sym typeface="Montserrat"/>
              </a:rPr>
              <a:t>ICR</a:t>
            </a:r>
          </a:p>
          <a:p>
            <a:pPr marL="0" indent="0" algn="l" rtl="0">
              <a:lnSpc>
                <a:spcPct val="100000"/>
              </a:lnSpc>
              <a:spcBef>
                <a:spcPts val="0"/>
              </a:spcBef>
              <a:spcAft>
                <a:spcPts val="60"/>
              </a:spcAft>
              <a:buNone/>
            </a:pPr>
            <a:r>
              <a:rPr lang="en-GB" sz="950" b="0" i="0">
                <a:solidFill>
                  <a:srgbClr val="595959"/>
                </a:solidFill>
                <a:latin typeface="Roboto"/>
                <a:ea typeface="Roboto"/>
                <a:cs typeface="Roboto"/>
                <a:sym typeface="Roboto"/>
              </a:rPr>
              <a:t>10 opportunities · 146 variables</a:t>
            </a:r>
          </a:p>
          <a:p>
            <a:pPr marL="0" indent="0" algn="l" rtl="0">
              <a:lnSpc>
                <a:spcPct val="100000"/>
              </a:lnSpc>
              <a:spcBef>
                <a:spcPts val="0"/>
              </a:spcBef>
              <a:spcAft>
                <a:spcPts val="0"/>
              </a:spcAft>
              <a:buNone/>
            </a:pPr>
            <a:r>
              <a:rPr lang="en-GB" sz="950" b="0" i="0">
                <a:solidFill>
                  <a:srgbClr val="ED7D31"/>
                </a:solidFill>
                <a:latin typeface="Roboto"/>
                <a:ea typeface="Roboto"/>
                <a:cs typeface="Roboto"/>
                <a:sym typeface="Roboto"/>
              </a:rPr>
              <a:t>53 new CMIP7 variables</a:t>
            </a:r>
          </a:p>
        </p:txBody>
      </p:sp>
      <p:sp>
        <p:nvSpPr>
          <p:cNvPr id="923" name="rc924"/>
          <p:cNvSpPr/>
          <p:nvPr/>
        </p:nvSpPr>
        <p:spPr>
          <a:xfrm>
            <a:off x="8897112" y="5029200"/>
            <a:ext cx="2505456" cy="841248"/>
          </a:xfrm>
          <a:prstGeom prst="roundRect">
            <a:avLst>
              <a:gd name="adj" fmla="val 8695"/>
            </a:avLst>
          </a:prstGeom>
          <a:solidFill>
            <a:srgbClr val="F1F4F9"/>
          </a:solidFill>
          <a:ln>
            <a:noFill/>
          </a:ln>
        </p:spPr>
        <p:txBody>
          <a:bodyPr/>
          <a:lstStyle/>
          <a:p>
            <a:pPr algn="l" rtl="0">
              <a:buNone/>
            </a:pPr>
          </a:p>
        </p:txBody>
      </p:sp>
      <p:sp>
        <p:nvSpPr>
          <p:cNvPr id="925" name="tb926"/>
          <p:cNvSpPr txBox="1"/>
          <p:nvPr/>
        </p:nvSpPr>
        <p:spPr>
          <a:xfrm>
            <a:off x="8951976" y="5084064"/>
            <a:ext cx="2395728" cy="768096"/>
          </a:xfrm>
          <a:prstGeom prst="rect">
            <a:avLst/>
          </a:prstGeom>
          <a:noFill/>
          <a:ln>
            <a:noFill/>
          </a:ln>
        </p:spPr>
        <p:txBody>
          <a:bodyPr spcFirstLastPara="1" wrap="square" lIns="109728" tIns="109728" rIns="109728" bIns="109728" anchor="t" anchorCtr="0">
            <a:noAutofit/>
          </a:bodyPr>
          <a:lstStyle/>
          <a:p>
            <a:pPr marL="0" indent="0" algn="l" rtl="0">
              <a:lnSpc>
                <a:spcPct val="100000"/>
              </a:lnSpc>
              <a:spcBef>
                <a:spcPts val="0"/>
              </a:spcBef>
              <a:spcAft>
                <a:spcPts val="180"/>
              </a:spcAft>
              <a:buNone/>
            </a:pPr>
            <a:r>
              <a:rPr lang="en-GB" sz="1250" b="1" i="0">
                <a:solidFill>
                  <a:srgbClr val="1F3864"/>
                </a:solidFill>
                <a:latin typeface="Montserrat"/>
                <a:ea typeface="Montserrat"/>
                <a:cs typeface="Montserrat"/>
                <a:sym typeface="Montserrat"/>
              </a:rPr>
              <a:t>EIEE</a:t>
            </a:r>
          </a:p>
          <a:p>
            <a:pPr marL="0" indent="0" algn="l" rtl="0">
              <a:lnSpc>
                <a:spcPct val="100000"/>
              </a:lnSpc>
              <a:spcBef>
                <a:spcPts val="0"/>
              </a:spcBef>
              <a:spcAft>
                <a:spcPts val="60"/>
              </a:spcAft>
              <a:buNone/>
            </a:pPr>
            <a:r>
              <a:rPr lang="en-GB" sz="950" b="0" i="0">
                <a:solidFill>
                  <a:srgbClr val="595959"/>
                </a:solidFill>
                <a:latin typeface="Roboto"/>
                <a:ea typeface="Roboto"/>
                <a:cs typeface="Roboto"/>
                <a:sym typeface="Roboto"/>
              </a:rPr>
              <a:t>2 opportunities · 33 variables</a:t>
            </a:r>
          </a:p>
          <a:p>
            <a:pPr marL="0" indent="0" algn="l" rtl="0">
              <a:lnSpc>
                <a:spcPct val="100000"/>
              </a:lnSpc>
              <a:spcBef>
                <a:spcPts val="0"/>
              </a:spcBef>
              <a:spcAft>
                <a:spcPts val="0"/>
              </a:spcAft>
              <a:buNone/>
            </a:pPr>
            <a:r>
              <a:rPr lang="en-GB" sz="950" b="0" i="0">
                <a:solidFill>
                  <a:srgbClr val="ED7D31"/>
                </a:solidFill>
                <a:latin typeface="Roboto"/>
                <a:ea typeface="Roboto"/>
                <a:cs typeface="Roboto"/>
                <a:sym typeface="Roboto"/>
              </a:rPr>
              <a:t>14 new CMIP7 variables</a:t>
            </a:r>
          </a:p>
        </p:txBody>
      </p:sp>
      <p:sp>
        <p:nvSpPr>
          <p:cNvPr id="927" name="tb928"/>
          <p:cNvSpPr txBox="1"/>
          <p:nvPr/>
        </p:nvSpPr>
        <p:spPr>
          <a:xfrm>
            <a:off x="777240" y="6053328"/>
            <a:ext cx="10634472" cy="777240"/>
          </a:xfrm>
          <a:prstGeom prst="rect">
            <a:avLst/>
          </a:prstGeom>
          <a:noFill/>
          <a:ln>
            <a:noFill/>
          </a:ln>
        </p:spPr>
        <p:txBody>
          <a:bodyPr spcFirstLastPara="1" wrap="square" lIns="0" tIns="0" rIns="0" bIns="0" anchor="t" anchorCtr="0">
            <a:noAutofit/>
          </a:bodyPr>
          <a:lstStyle/>
          <a:p>
            <a:pPr marL="0" indent="0" algn="l" rtl="0">
              <a:lnSpc>
                <a:spcPct val="110000"/>
              </a:lnSpc>
              <a:spcBef>
                <a:spcPts val="0"/>
              </a:spcBef>
              <a:spcAft>
                <a:spcPts val="100"/>
              </a:spcAft>
              <a:buNone/>
            </a:pPr>
            <a:r>
              <a:rPr lang="en-GB" sz="1000" b="0" i="0">
                <a:solidFill>
                  <a:srgbClr val="595959"/>
                </a:solidFill>
                <a:latin typeface="Roboto"/>
                <a:ea typeface="Roboto"/>
                <a:cs typeface="Roboto"/>
                <a:sym typeface="Roboto"/>
              </a:rPr>
              <a:t>Four hydrology and land opportunities are shared between ESYDA and ICR. Every variable group of every opportunity above is expanded in full — no per-variable filtering — which is what produces the 853 requested variables on the next slide.</a:t>
            </a:r>
          </a:p>
        </p:txBody>
      </p:sp>
    </p:spTree>
  </p:cSld>
  <p:clrMapOvr>
    <a:masterClrMapping/>
  </p:clrMapOvr>
</p:sld>
</file>

<file path=ppt/theme/theme1.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Words>
  <Application>Microsoft Macintosh PowerPoint</Application>
  <PresentationFormat>Widescreen</PresentationFormat>
  <Paragraphs>15</Paragraphs>
  <Slides>4</Slides>
  <Notes>4</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4</vt:i4>
      </vt:variant>
    </vt:vector>
  </HeadingPairs>
  <TitlesOfParts>
    <vt:vector size="9" baseType="lpstr">
      <vt:lpstr>Calibri</vt:lpstr>
      <vt:lpstr>Roboto</vt:lpstr>
      <vt:lpstr>Montserrat</vt:lpstr>
      <vt:lpstr>Arial</vt:lpstr>
      <vt:lpstr>Tema di Office</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Giovanni Conti</cp:lastModifiedBy>
  <cp:revision>1</cp:revision>
  <dcterms:modified xsi:type="dcterms:W3CDTF">2026-09-15T07:03:17Z</dcterms:modified>
</cp:coreProperties>
</file>